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9144000" cy="16256000"/>
  <p:embeddedFontLst>
    <p:embeddedFont>
      <p:font typeface="Quattrocento Sans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Liter" panose="020B0604020202020204" charset="0"/>
      <p:regular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-102" y="108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(млн ₽)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10%</c:v>
                </c:pt>
                <c:pt idx="1">
                  <c:v>30%</c:v>
                </c:pt>
                <c:pt idx="2">
                  <c:v>60%</c:v>
                </c:pt>
                <c:pt idx="3">
                  <c:v>100%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850</c:v>
                </c:pt>
                <c:pt idx="2">
                  <c:v>1700</c:v>
                </c:pt>
                <c:pt idx="3">
                  <c:v>2830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68832256"/>
        <c:axId val="68862720"/>
      </c:barChart>
      <c:catAx>
        <c:axId val="688322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F4D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E0E0E0"/>
                </a:solidFill>
                <a:latin typeface="Arial"/>
              </a:defRPr>
            </a:pPr>
            <a:endParaRPr lang="ru-RU"/>
          </a:p>
        </c:txPr>
        <c:crossAx val="68862720"/>
        <c:crosses val="autoZero"/>
        <c:auto val="1"/>
        <c:lblAlgn val="ctr"/>
        <c:lblOffset val="100"/>
        <c:noMultiLvlLbl val="1"/>
      </c:catAx>
      <c:valAx>
        <c:axId val="68862720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68832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812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812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6D5F3-6F59-40F7-A325-A32A6D2BA38E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846138" y="1219200"/>
            <a:ext cx="10836276" cy="6096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7721600"/>
            <a:ext cx="7315200" cy="73152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5440025"/>
            <a:ext cx="3962400" cy="8128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15440025"/>
            <a:ext cx="3962400" cy="8128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187D7-CA8C-4312-8971-DC09E26EE6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92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8000" y="2032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4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ИМПОРТОЗАМЕЩАЮЩЕЕ РЕШЕНИЕ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83000" y="2184400"/>
            <a:ext cx="508000" cy="0"/>
          </a:xfrm>
          <a:prstGeom prst="straightConnector1">
            <a:avLst/>
          </a:prstGeom>
          <a:noFill/>
          <a:ln w="12700">
            <a:solidFill>
              <a:srgbClr val="00E5FF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2065000" y="2184400"/>
            <a:ext cx="508000" cy="0"/>
          </a:xfrm>
          <a:prstGeom prst="straightConnector1">
            <a:avLst/>
          </a:prstGeom>
          <a:noFill/>
          <a:ln w="12700">
            <a:solidFill>
              <a:srgbClr val="00E5FF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778000" y="2413000"/>
            <a:ext cx="1270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AI-АССИСТЕНТ ДЕТЕКЦИИ</a:t>
            </a:r>
            <a:endParaRPr lang="en-US" sz="7200" dirty="0"/>
          </a:p>
          <a:p>
            <a:pPr algn="ctr">
              <a:lnSpc>
                <a:spcPct val="11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ПОЛИПОВ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48000" y="5080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Система компьютерного зрения для поддержки</a:t>
            </a:r>
            <a:endParaRPr lang="en-US" sz="2000" dirty="0"/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врача-эндоскописта в реальном времени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937000" y="6350000"/>
            <a:ext cx="2540000" cy="1143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7000" y="6451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2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YOLOV8M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7000" y="67564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mAP50: 0.938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0" y="6350000"/>
            <a:ext cx="2540000" cy="1143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6451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2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ЗАДЕРЖКА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67564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&lt;100 мс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779000" y="6350000"/>
            <a:ext cx="2540000" cy="1143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79000" y="6451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2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ДАТАСЕТ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79000" y="67564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Kvasir-SEG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ПОЛИСКОП © 2026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СОДЕРЖАНИЕ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Структура презентации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2286000"/>
            <a:ext cx="7048500" cy="2540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54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43000" y="33020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Проблема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3810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Каждый четвёртый полип пропускается при колоноскопии — последствия для пациентов и клиник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2286000"/>
            <a:ext cx="7048500" cy="2540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26500" y="254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826500" y="33020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Продукт и технология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826500" y="3810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Архитектура решения, преимущества внедрения, технические характеристики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334000"/>
            <a:ext cx="7048500" cy="2540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558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143000" y="63500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Экономика и рынок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43000" y="6858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Унит-экономика, конкурентный анализ, размер рынка и сценарии роста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5334000"/>
            <a:ext cx="7048500" cy="2540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6500" y="558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826500" y="63500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Команда и следующие шаги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826500" y="6858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Экспертиза команды, дорожная карта развития, приглашение к сотрудничеству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ПРОБЛЕМА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2540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762000" y="4318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Проблема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62000" y="5334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Каждый четвёртый полип пропускается при колоноскопии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62000" y="6731000"/>
            <a:ext cx="1270000" cy="0"/>
          </a:xfrm>
          <a:prstGeom prst="straightConnector1">
            <a:avLst/>
          </a:prstGeom>
          <a:noFill/>
          <a:ln w="38100">
            <a:solidFill>
              <a:srgbClr val="00E5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ПРОБЛЕМА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25% полипов остаются незамеченными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714500"/>
            <a:ext cx="1016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Мета-анализ 43 исследований, &gt;15 000 колоноскопий (Gastroenterology, 2019)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4572000" cy="2794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603500"/>
            <a:ext cx="381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FF00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143000" y="3492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Аденом пропускается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39370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Наиболее распространённый тип полипов с высоким риском малигнизации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000" y="2349500"/>
            <a:ext cx="4572000" cy="2794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3000" y="2603500"/>
            <a:ext cx="381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FF00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223000" y="3492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Серрированных полипов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23000" y="39370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Сложнее обнаружить визуально, требуют повышенного внимания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22000" y="2349500"/>
            <a:ext cx="4572000" cy="2794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03000" y="2603500"/>
            <a:ext cx="381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FF00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11303000" y="3492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Плоских аденом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303000" y="39370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Самый высокий процент пропуска из-за плоского профиля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715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0F1430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0000" y="5842000"/>
            <a:ext cx="137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00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Пропуск полипа  →  Колоректальный рак  →  Стоимость лечения в 10–50 раз выше ранней диагностики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2000" y="7239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Вывод:</a:t>
            </a:r>
            <a:r>
              <a:rPr lang="en-US" sz="18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Человеческий фактор — основная причина пропуска полипов. AI-ассистент способен снизить процент пропуска до минимума, работая непрерывно и без усталости.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ПРОДУКТ И ТЕХНОЛОГИЯ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2540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762000" y="4318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Продукт и технология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62000" y="5334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Система компьютерного зрения для поддержки врача-эндоскописта в реальном времени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62000" y="6731000"/>
            <a:ext cx="1270000" cy="0"/>
          </a:xfrm>
          <a:prstGeom prst="straightConnector1">
            <a:avLst/>
          </a:prstGeom>
          <a:noFill/>
          <a:ln w="38100">
            <a:solidFill>
              <a:srgbClr val="00E5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ПРОДУКТ И ТЕХНОЛОГИЯ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Архитектура: от эндоскопа до монитора за &lt;100 мс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2159000"/>
            <a:ext cx="3175000" cy="2286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85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7" y="63500"/>
                </a:moveTo>
                <a:cubicBezTo>
                  <a:pt x="53534" y="63500"/>
                  <a:pt x="28222" y="91976"/>
                  <a:pt x="28222" y="127000"/>
                </a:cubicBezTo>
                <a:lnTo>
                  <a:pt x="28222" y="381000"/>
                </a:lnTo>
                <a:cubicBezTo>
                  <a:pt x="28222" y="416024"/>
                  <a:pt x="53534" y="444500"/>
                  <a:pt x="84667" y="444500"/>
                </a:cubicBezTo>
                <a:lnTo>
                  <a:pt x="310444" y="444500"/>
                </a:lnTo>
                <a:cubicBezTo>
                  <a:pt x="341577" y="444500"/>
                  <a:pt x="366889" y="416024"/>
                  <a:pt x="366889" y="381000"/>
                </a:cubicBezTo>
                <a:lnTo>
                  <a:pt x="366889" y="127000"/>
                </a:lnTo>
                <a:cubicBezTo>
                  <a:pt x="366889" y="91976"/>
                  <a:pt x="341577" y="63500"/>
                  <a:pt x="310444" y="63500"/>
                </a:cubicBezTo>
                <a:lnTo>
                  <a:pt x="84667" y="63500"/>
                </a:lnTo>
                <a:close/>
                <a:moveTo>
                  <a:pt x="409222" y="333375"/>
                </a:moveTo>
                <a:lnTo>
                  <a:pt x="474045" y="391716"/>
                </a:lnTo>
                <a:cubicBezTo>
                  <a:pt x="477749" y="395089"/>
                  <a:pt x="482335" y="396875"/>
                  <a:pt x="487098" y="396875"/>
                </a:cubicBezTo>
                <a:cubicBezTo>
                  <a:pt x="498651" y="396875"/>
                  <a:pt x="508000" y="386358"/>
                  <a:pt x="508000" y="373360"/>
                </a:cubicBezTo>
                <a:lnTo>
                  <a:pt x="508000" y="134640"/>
                </a:lnTo>
                <a:cubicBezTo>
                  <a:pt x="508000" y="121642"/>
                  <a:pt x="498651" y="111125"/>
                  <a:pt x="487098" y="111125"/>
                </a:cubicBezTo>
                <a:cubicBezTo>
                  <a:pt x="482335" y="111125"/>
                  <a:pt x="477749" y="112911"/>
                  <a:pt x="474045" y="116284"/>
                </a:cubicBezTo>
                <a:lnTo>
                  <a:pt x="409222" y="174625"/>
                </a:lnTo>
                <a:lnTo>
                  <a:pt x="409222" y="333375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984500"/>
            <a:ext cx="266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Эндоскоп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6000" y="3365500"/>
            <a:ext cx="266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HDMI-out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Любой производитель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64000" y="3175000"/>
            <a:ext cx="508000" cy="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699000" y="2159000"/>
            <a:ext cx="3175000" cy="2286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055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0714" y="103188"/>
                </a:moveTo>
                <a:cubicBezTo>
                  <a:pt x="105734" y="103188"/>
                  <a:pt x="117929" y="92517"/>
                  <a:pt x="117929" y="79375"/>
                </a:cubicBezTo>
                <a:cubicBezTo>
                  <a:pt x="117929" y="66233"/>
                  <a:pt x="105734" y="55563"/>
                  <a:pt x="90714" y="55563"/>
                </a:cubicBezTo>
                <a:cubicBezTo>
                  <a:pt x="75694" y="55563"/>
                  <a:pt x="63500" y="66233"/>
                  <a:pt x="63500" y="79375"/>
                </a:cubicBezTo>
                <a:cubicBezTo>
                  <a:pt x="63500" y="92517"/>
                  <a:pt x="75694" y="103188"/>
                  <a:pt x="90714" y="103188"/>
                </a:cubicBezTo>
                <a:close/>
                <a:moveTo>
                  <a:pt x="181429" y="79375"/>
                </a:moveTo>
                <a:cubicBezTo>
                  <a:pt x="181429" y="111919"/>
                  <a:pt x="159090" y="139898"/>
                  <a:pt x="127000" y="152102"/>
                </a:cubicBezTo>
                <a:lnTo>
                  <a:pt x="127000" y="222250"/>
                </a:lnTo>
                <a:lnTo>
                  <a:pt x="326571" y="222250"/>
                </a:lnTo>
                <a:cubicBezTo>
                  <a:pt x="356621" y="222250"/>
                  <a:pt x="381000" y="200918"/>
                  <a:pt x="381000" y="174625"/>
                </a:cubicBezTo>
                <a:lnTo>
                  <a:pt x="381000" y="152102"/>
                </a:lnTo>
                <a:cubicBezTo>
                  <a:pt x="348910" y="139898"/>
                  <a:pt x="326571" y="111919"/>
                  <a:pt x="326571" y="79375"/>
                </a:cubicBezTo>
                <a:cubicBezTo>
                  <a:pt x="326571" y="35520"/>
                  <a:pt x="367166" y="0"/>
                  <a:pt x="417286" y="0"/>
                </a:cubicBezTo>
                <a:cubicBezTo>
                  <a:pt x="467405" y="0"/>
                  <a:pt x="508000" y="35520"/>
                  <a:pt x="508000" y="79375"/>
                </a:cubicBezTo>
                <a:cubicBezTo>
                  <a:pt x="508000" y="111919"/>
                  <a:pt x="485662" y="139898"/>
                  <a:pt x="453571" y="152102"/>
                </a:cubicBezTo>
                <a:lnTo>
                  <a:pt x="453571" y="174625"/>
                </a:lnTo>
                <a:cubicBezTo>
                  <a:pt x="453571" y="236041"/>
                  <a:pt x="396762" y="285750"/>
                  <a:pt x="326571" y="285750"/>
                </a:cubicBezTo>
                <a:lnTo>
                  <a:pt x="127000" y="285750"/>
                </a:lnTo>
                <a:lnTo>
                  <a:pt x="127000" y="355898"/>
                </a:lnTo>
                <a:cubicBezTo>
                  <a:pt x="159090" y="368102"/>
                  <a:pt x="181429" y="396081"/>
                  <a:pt x="181429" y="428625"/>
                </a:cubicBezTo>
                <a:cubicBezTo>
                  <a:pt x="181429" y="472480"/>
                  <a:pt x="140834" y="508000"/>
                  <a:pt x="90714" y="508000"/>
                </a:cubicBezTo>
                <a:cubicBezTo>
                  <a:pt x="40595" y="508000"/>
                  <a:pt x="0" y="472480"/>
                  <a:pt x="0" y="428625"/>
                </a:cubicBezTo>
                <a:cubicBezTo>
                  <a:pt x="0" y="396081"/>
                  <a:pt x="22338" y="368102"/>
                  <a:pt x="54429" y="355898"/>
                </a:cubicBezTo>
                <a:lnTo>
                  <a:pt x="54429" y="152202"/>
                </a:lnTo>
                <a:cubicBezTo>
                  <a:pt x="22338" y="139898"/>
                  <a:pt x="0" y="111919"/>
                  <a:pt x="0" y="79375"/>
                </a:cubicBezTo>
                <a:cubicBezTo>
                  <a:pt x="0" y="35520"/>
                  <a:pt x="40595" y="0"/>
                  <a:pt x="90714" y="0"/>
                </a:cubicBezTo>
                <a:cubicBezTo>
                  <a:pt x="140834" y="0"/>
                  <a:pt x="181429" y="35520"/>
                  <a:pt x="181429" y="79375"/>
                </a:cubicBezTo>
                <a:close/>
                <a:moveTo>
                  <a:pt x="444500" y="79375"/>
                </a:moveTo>
                <a:cubicBezTo>
                  <a:pt x="444500" y="66233"/>
                  <a:pt x="432306" y="55563"/>
                  <a:pt x="417286" y="55563"/>
                </a:cubicBezTo>
                <a:cubicBezTo>
                  <a:pt x="402266" y="55563"/>
                  <a:pt x="390071" y="66233"/>
                  <a:pt x="390071" y="79375"/>
                </a:cubicBezTo>
                <a:cubicBezTo>
                  <a:pt x="390071" y="92517"/>
                  <a:pt x="402266" y="103188"/>
                  <a:pt x="417286" y="103188"/>
                </a:cubicBezTo>
                <a:cubicBezTo>
                  <a:pt x="432306" y="103188"/>
                  <a:pt x="444500" y="92517"/>
                  <a:pt x="444500" y="79375"/>
                </a:cubicBezTo>
                <a:close/>
                <a:moveTo>
                  <a:pt x="90714" y="452437"/>
                </a:moveTo>
                <a:cubicBezTo>
                  <a:pt x="105734" y="452437"/>
                  <a:pt x="117929" y="441767"/>
                  <a:pt x="117929" y="428625"/>
                </a:cubicBezTo>
                <a:cubicBezTo>
                  <a:pt x="117929" y="415483"/>
                  <a:pt x="105734" y="404813"/>
                  <a:pt x="90714" y="404813"/>
                </a:cubicBezTo>
                <a:cubicBezTo>
                  <a:pt x="75694" y="404813"/>
                  <a:pt x="63500" y="415483"/>
                  <a:pt x="63500" y="428625"/>
                </a:cubicBezTo>
                <a:cubicBezTo>
                  <a:pt x="63500" y="441767"/>
                  <a:pt x="75694" y="452437"/>
                  <a:pt x="90714" y="452437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4953000" y="2984500"/>
            <a:ext cx="266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HDMI-сплиттер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53000" y="3365500"/>
            <a:ext cx="266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Пассивный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Без задержек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01000" y="3175000"/>
            <a:ext cx="508000" cy="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636000" y="2159000"/>
            <a:ext cx="3175000" cy="2286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425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4625" y="23812"/>
                </a:moveTo>
                <a:cubicBezTo>
                  <a:pt x="174625" y="10616"/>
                  <a:pt x="164009" y="0"/>
                  <a:pt x="150813" y="0"/>
                </a:cubicBezTo>
                <a:cubicBezTo>
                  <a:pt x="137616" y="0"/>
                  <a:pt x="127000" y="10616"/>
                  <a:pt x="127000" y="23812"/>
                </a:cubicBezTo>
                <a:lnTo>
                  <a:pt x="127000" y="63500"/>
                </a:lnTo>
                <a:cubicBezTo>
                  <a:pt x="91976" y="63500"/>
                  <a:pt x="63500" y="91976"/>
                  <a:pt x="63500" y="127000"/>
                </a:cubicBezTo>
                <a:lnTo>
                  <a:pt x="23812" y="127000"/>
                </a:lnTo>
                <a:cubicBezTo>
                  <a:pt x="10616" y="127000"/>
                  <a:pt x="0" y="137616"/>
                  <a:pt x="0" y="150813"/>
                </a:cubicBezTo>
                <a:cubicBezTo>
                  <a:pt x="0" y="164009"/>
                  <a:pt x="10616" y="174625"/>
                  <a:pt x="23812" y="174625"/>
                </a:cubicBezTo>
                <a:lnTo>
                  <a:pt x="63500" y="174625"/>
                </a:lnTo>
                <a:lnTo>
                  <a:pt x="63500" y="230188"/>
                </a:lnTo>
                <a:lnTo>
                  <a:pt x="23812" y="230188"/>
                </a:lnTo>
                <a:cubicBezTo>
                  <a:pt x="10616" y="230188"/>
                  <a:pt x="0" y="240804"/>
                  <a:pt x="0" y="254000"/>
                </a:cubicBezTo>
                <a:cubicBezTo>
                  <a:pt x="0" y="267196"/>
                  <a:pt x="10616" y="277813"/>
                  <a:pt x="23812" y="277813"/>
                </a:cubicBezTo>
                <a:lnTo>
                  <a:pt x="63500" y="277813"/>
                </a:lnTo>
                <a:lnTo>
                  <a:pt x="63500" y="333375"/>
                </a:lnTo>
                <a:lnTo>
                  <a:pt x="23812" y="333375"/>
                </a:lnTo>
                <a:cubicBezTo>
                  <a:pt x="10616" y="333375"/>
                  <a:pt x="0" y="343991"/>
                  <a:pt x="0" y="357188"/>
                </a:cubicBezTo>
                <a:cubicBezTo>
                  <a:pt x="0" y="370384"/>
                  <a:pt x="10616" y="381000"/>
                  <a:pt x="23812" y="381000"/>
                </a:cubicBezTo>
                <a:lnTo>
                  <a:pt x="63500" y="381000"/>
                </a:lnTo>
                <a:cubicBezTo>
                  <a:pt x="63500" y="416024"/>
                  <a:pt x="91976" y="444500"/>
                  <a:pt x="127000" y="444500"/>
                </a:cubicBezTo>
                <a:lnTo>
                  <a:pt x="127000" y="484187"/>
                </a:lnTo>
                <a:cubicBezTo>
                  <a:pt x="127000" y="497384"/>
                  <a:pt x="137616" y="508000"/>
                  <a:pt x="150813" y="508000"/>
                </a:cubicBezTo>
                <a:cubicBezTo>
                  <a:pt x="164009" y="508000"/>
                  <a:pt x="174625" y="497384"/>
                  <a:pt x="174625" y="484187"/>
                </a:cubicBezTo>
                <a:lnTo>
                  <a:pt x="174625" y="444500"/>
                </a:lnTo>
                <a:lnTo>
                  <a:pt x="230188" y="444500"/>
                </a:lnTo>
                <a:lnTo>
                  <a:pt x="230188" y="484187"/>
                </a:lnTo>
                <a:cubicBezTo>
                  <a:pt x="230188" y="497384"/>
                  <a:pt x="240804" y="508000"/>
                  <a:pt x="254000" y="508000"/>
                </a:cubicBezTo>
                <a:cubicBezTo>
                  <a:pt x="267196" y="508000"/>
                  <a:pt x="277813" y="497384"/>
                  <a:pt x="277813" y="484187"/>
                </a:cubicBezTo>
                <a:lnTo>
                  <a:pt x="277813" y="444500"/>
                </a:lnTo>
                <a:lnTo>
                  <a:pt x="333375" y="444500"/>
                </a:lnTo>
                <a:lnTo>
                  <a:pt x="333375" y="484187"/>
                </a:lnTo>
                <a:cubicBezTo>
                  <a:pt x="333375" y="497384"/>
                  <a:pt x="343991" y="508000"/>
                  <a:pt x="357188" y="508000"/>
                </a:cubicBezTo>
                <a:cubicBezTo>
                  <a:pt x="370384" y="508000"/>
                  <a:pt x="381000" y="497384"/>
                  <a:pt x="381000" y="484187"/>
                </a:cubicBezTo>
                <a:lnTo>
                  <a:pt x="381000" y="444500"/>
                </a:lnTo>
                <a:cubicBezTo>
                  <a:pt x="416024" y="444500"/>
                  <a:pt x="444500" y="416024"/>
                  <a:pt x="444500" y="381000"/>
                </a:cubicBezTo>
                <a:lnTo>
                  <a:pt x="484187" y="381000"/>
                </a:lnTo>
                <a:cubicBezTo>
                  <a:pt x="497384" y="381000"/>
                  <a:pt x="508000" y="370384"/>
                  <a:pt x="508000" y="357188"/>
                </a:cubicBezTo>
                <a:cubicBezTo>
                  <a:pt x="508000" y="343991"/>
                  <a:pt x="497384" y="333375"/>
                  <a:pt x="484187" y="333375"/>
                </a:cubicBezTo>
                <a:lnTo>
                  <a:pt x="444500" y="333375"/>
                </a:lnTo>
                <a:lnTo>
                  <a:pt x="444500" y="277813"/>
                </a:lnTo>
                <a:lnTo>
                  <a:pt x="484187" y="277813"/>
                </a:lnTo>
                <a:cubicBezTo>
                  <a:pt x="497384" y="277813"/>
                  <a:pt x="508000" y="267196"/>
                  <a:pt x="508000" y="254000"/>
                </a:cubicBezTo>
                <a:cubicBezTo>
                  <a:pt x="508000" y="240804"/>
                  <a:pt x="497384" y="230188"/>
                  <a:pt x="484187" y="230188"/>
                </a:cubicBezTo>
                <a:lnTo>
                  <a:pt x="444500" y="230188"/>
                </a:lnTo>
                <a:lnTo>
                  <a:pt x="444500" y="174625"/>
                </a:lnTo>
                <a:lnTo>
                  <a:pt x="484187" y="174625"/>
                </a:lnTo>
                <a:cubicBezTo>
                  <a:pt x="497384" y="174625"/>
                  <a:pt x="508000" y="164009"/>
                  <a:pt x="508000" y="150813"/>
                </a:cubicBezTo>
                <a:cubicBezTo>
                  <a:pt x="508000" y="137616"/>
                  <a:pt x="497384" y="127000"/>
                  <a:pt x="484187" y="127000"/>
                </a:cubicBezTo>
                <a:lnTo>
                  <a:pt x="444500" y="127000"/>
                </a:lnTo>
                <a:cubicBezTo>
                  <a:pt x="444500" y="91976"/>
                  <a:pt x="416024" y="63500"/>
                  <a:pt x="381000" y="63500"/>
                </a:cubicBezTo>
                <a:lnTo>
                  <a:pt x="381000" y="23812"/>
                </a:lnTo>
                <a:cubicBezTo>
                  <a:pt x="381000" y="10616"/>
                  <a:pt x="370384" y="0"/>
                  <a:pt x="357188" y="0"/>
                </a:cubicBezTo>
                <a:cubicBezTo>
                  <a:pt x="343991" y="0"/>
                  <a:pt x="333375" y="10616"/>
                  <a:pt x="333375" y="23812"/>
                </a:cubicBezTo>
                <a:lnTo>
                  <a:pt x="333375" y="63500"/>
                </a:lnTo>
                <a:lnTo>
                  <a:pt x="277813" y="63500"/>
                </a:lnTo>
                <a:lnTo>
                  <a:pt x="277813" y="23812"/>
                </a:lnTo>
                <a:cubicBezTo>
                  <a:pt x="277813" y="10616"/>
                  <a:pt x="267196" y="0"/>
                  <a:pt x="254000" y="0"/>
                </a:cubicBezTo>
                <a:cubicBezTo>
                  <a:pt x="240804" y="0"/>
                  <a:pt x="230188" y="10616"/>
                  <a:pt x="230188" y="23812"/>
                </a:cubicBezTo>
                <a:lnTo>
                  <a:pt x="230188" y="63500"/>
                </a:lnTo>
                <a:lnTo>
                  <a:pt x="174625" y="63500"/>
                </a:lnTo>
                <a:lnTo>
                  <a:pt x="174625" y="23812"/>
                </a:lnTo>
                <a:close/>
                <a:moveTo>
                  <a:pt x="158750" y="127000"/>
                </a:moveTo>
                <a:lnTo>
                  <a:pt x="349250" y="127000"/>
                </a:lnTo>
                <a:cubicBezTo>
                  <a:pt x="366812" y="127000"/>
                  <a:pt x="381000" y="141188"/>
                  <a:pt x="381000" y="158750"/>
                </a:cubicBezTo>
                <a:lnTo>
                  <a:pt x="381000" y="349250"/>
                </a:lnTo>
                <a:cubicBezTo>
                  <a:pt x="381000" y="366812"/>
                  <a:pt x="366812" y="381000"/>
                  <a:pt x="349250" y="381000"/>
                </a:cubicBezTo>
                <a:lnTo>
                  <a:pt x="158750" y="381000"/>
                </a:lnTo>
                <a:cubicBezTo>
                  <a:pt x="141188" y="381000"/>
                  <a:pt x="127000" y="366812"/>
                  <a:pt x="127000" y="349250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174625" y="174625"/>
                </a:moveTo>
                <a:lnTo>
                  <a:pt x="174625" y="333375"/>
                </a:lnTo>
                <a:lnTo>
                  <a:pt x="333375" y="333375"/>
                </a:lnTo>
                <a:lnTo>
                  <a:pt x="333375" y="174625"/>
                </a:lnTo>
                <a:lnTo>
                  <a:pt x="174625" y="174625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0" y="2984500"/>
            <a:ext cx="266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Инференс-блок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90000" y="3365500"/>
            <a:ext cx="266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YOLOv8m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NVIDIA Jetson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938000" y="3175000"/>
            <a:ext cx="508000" cy="0"/>
          </a:xfrm>
          <a:prstGeom prst="straightConnector1">
            <a:avLst/>
          </a:prstGeom>
          <a:noFill/>
          <a:ln w="25400">
            <a:solidFill>
              <a:srgbClr val="00E5FF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2573000" y="2159000"/>
            <a:ext cx="2921000" cy="2286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95250"/>
                </a:moveTo>
                <a:lnTo>
                  <a:pt x="444500" y="349250"/>
                </a:lnTo>
                <a:lnTo>
                  <a:pt x="63500" y="349250"/>
                </a:lnTo>
                <a:lnTo>
                  <a:pt x="63500" y="95250"/>
                </a:lnTo>
                <a:lnTo>
                  <a:pt x="444500" y="95250"/>
                </a:lnTo>
                <a:close/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349250"/>
                </a:lnTo>
                <a:cubicBezTo>
                  <a:pt x="0" y="384274"/>
                  <a:pt x="28476" y="412750"/>
                  <a:pt x="63500" y="412750"/>
                </a:cubicBezTo>
                <a:lnTo>
                  <a:pt x="206375" y="412750"/>
                </a:lnTo>
                <a:lnTo>
                  <a:pt x="190500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388938" y="508000"/>
                </a:lnTo>
                <a:cubicBezTo>
                  <a:pt x="402134" y="508000"/>
                  <a:pt x="412750" y="497384"/>
                  <a:pt x="412750" y="484187"/>
                </a:cubicBezTo>
                <a:cubicBezTo>
                  <a:pt x="412750" y="470991"/>
                  <a:pt x="402134" y="460375"/>
                  <a:pt x="388938" y="460375"/>
                </a:cubicBezTo>
                <a:lnTo>
                  <a:pt x="317500" y="460375"/>
                </a:lnTo>
                <a:lnTo>
                  <a:pt x="301625" y="412750"/>
                </a:lnTo>
                <a:lnTo>
                  <a:pt x="444500" y="412750"/>
                </a:lnTo>
                <a:cubicBezTo>
                  <a:pt x="479524" y="412750"/>
                  <a:pt x="508000" y="384274"/>
                  <a:pt x="508000" y="349250"/>
                </a:cubicBezTo>
                <a:lnTo>
                  <a:pt x="508000" y="95250"/>
                </a:lnTo>
                <a:cubicBezTo>
                  <a:pt x="508000" y="60226"/>
                  <a:pt x="479524" y="31750"/>
                  <a:pt x="444500" y="31750"/>
                </a:cubicBezTo>
                <a:lnTo>
                  <a:pt x="63500" y="31750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700000" y="2984500"/>
            <a:ext cx="266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Монитор врача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700000" y="3365500"/>
            <a:ext cx="266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Видео + оверлей AI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2000" y="50800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762000" y="5461000"/>
            <a:ext cx="3429000" cy="1524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6000" y="5651500"/>
            <a:ext cx="292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&lt;100 мс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1016000" y="62230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Задержка обработки кадра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33900" y="5461000"/>
            <a:ext cx="3429000" cy="1524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7900" y="5651500"/>
            <a:ext cx="292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0.938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787900" y="62230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mAP50 точность детекции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05800" y="5461000"/>
            <a:ext cx="3429000" cy="1524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59800" y="5651500"/>
            <a:ext cx="292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Kvasir-SEG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8559800" y="62230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Медицинский датасет полипов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2077700" y="5461000"/>
            <a:ext cx="3416300" cy="1524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331700" y="5651500"/>
            <a:ext cx="29083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YOLOv8m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12331700" y="6223000"/>
            <a:ext cx="290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State-of-the-art детекция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ПРОДУКТ И ТЕХНОЛОГИЯ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ключевых преимущества внедрения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2032000"/>
            <a:ext cx="7048500" cy="2921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-15875"/>
                </a:moveTo>
                <a:cubicBezTo>
                  <a:pt x="269610" y="-15875"/>
                  <a:pt x="282222" y="-1687"/>
                  <a:pt x="282222" y="15875"/>
                </a:cubicBezTo>
                <a:lnTo>
                  <a:pt x="282222" y="34032"/>
                </a:lnTo>
                <a:cubicBezTo>
                  <a:pt x="368741" y="47923"/>
                  <a:pt x="437180" y="124916"/>
                  <a:pt x="449527" y="222250"/>
                </a:cubicBezTo>
                <a:lnTo>
                  <a:pt x="465667" y="222250"/>
                </a:lnTo>
                <a:cubicBezTo>
                  <a:pt x="481277" y="222250"/>
                  <a:pt x="493889" y="236438"/>
                  <a:pt x="493889" y="254000"/>
                </a:cubicBezTo>
                <a:cubicBezTo>
                  <a:pt x="493889" y="271562"/>
                  <a:pt x="481277" y="285750"/>
                  <a:pt x="465667" y="285750"/>
                </a:cubicBezTo>
                <a:lnTo>
                  <a:pt x="449527" y="285750"/>
                </a:lnTo>
                <a:cubicBezTo>
                  <a:pt x="437180" y="383084"/>
                  <a:pt x="368741" y="460077"/>
                  <a:pt x="282222" y="473968"/>
                </a:cubicBezTo>
                <a:lnTo>
                  <a:pt x="282222" y="492125"/>
                </a:lnTo>
                <a:cubicBezTo>
                  <a:pt x="282222" y="509687"/>
                  <a:pt x="269610" y="523875"/>
                  <a:pt x="254000" y="523875"/>
                </a:cubicBezTo>
                <a:cubicBezTo>
                  <a:pt x="238390" y="523875"/>
                  <a:pt x="225778" y="509687"/>
                  <a:pt x="225778" y="492125"/>
                </a:cubicBezTo>
                <a:lnTo>
                  <a:pt x="225778" y="473968"/>
                </a:lnTo>
                <a:cubicBezTo>
                  <a:pt x="139259" y="460077"/>
                  <a:pt x="70820" y="383084"/>
                  <a:pt x="58473" y="285750"/>
                </a:cubicBezTo>
                <a:lnTo>
                  <a:pt x="42333" y="285750"/>
                </a:lnTo>
                <a:cubicBezTo>
                  <a:pt x="26723" y="285750"/>
                  <a:pt x="14111" y="271562"/>
                  <a:pt x="14111" y="254000"/>
                </a:cubicBezTo>
                <a:cubicBezTo>
                  <a:pt x="14111" y="236438"/>
                  <a:pt x="26723" y="222250"/>
                  <a:pt x="42333" y="222250"/>
                </a:cubicBezTo>
                <a:lnTo>
                  <a:pt x="58473" y="222250"/>
                </a:lnTo>
                <a:cubicBezTo>
                  <a:pt x="70820" y="124916"/>
                  <a:pt x="139259" y="47923"/>
                  <a:pt x="225778" y="34032"/>
                </a:cubicBezTo>
                <a:lnTo>
                  <a:pt x="225778" y="15875"/>
                </a:lnTo>
                <a:cubicBezTo>
                  <a:pt x="225778" y="-1687"/>
                  <a:pt x="238390" y="-15875"/>
                  <a:pt x="254000" y="-15875"/>
                </a:cubicBezTo>
                <a:close/>
                <a:moveTo>
                  <a:pt x="115711" y="285750"/>
                </a:moveTo>
                <a:cubicBezTo>
                  <a:pt x="126912" y="347960"/>
                  <a:pt x="170480" y="396974"/>
                  <a:pt x="225778" y="409575"/>
                </a:cubicBezTo>
                <a:lnTo>
                  <a:pt x="225778" y="396875"/>
                </a:lnTo>
                <a:cubicBezTo>
                  <a:pt x="225778" y="379313"/>
                  <a:pt x="238390" y="365125"/>
                  <a:pt x="254000" y="365125"/>
                </a:cubicBezTo>
                <a:cubicBezTo>
                  <a:pt x="269610" y="365125"/>
                  <a:pt x="282222" y="379313"/>
                  <a:pt x="282222" y="396875"/>
                </a:cubicBezTo>
                <a:lnTo>
                  <a:pt x="282222" y="409575"/>
                </a:lnTo>
                <a:cubicBezTo>
                  <a:pt x="337520" y="396974"/>
                  <a:pt x="381088" y="347960"/>
                  <a:pt x="392289" y="285750"/>
                </a:cubicBezTo>
                <a:lnTo>
                  <a:pt x="381000" y="285750"/>
                </a:lnTo>
                <a:cubicBezTo>
                  <a:pt x="365390" y="285750"/>
                  <a:pt x="352778" y="271562"/>
                  <a:pt x="352778" y="254000"/>
                </a:cubicBezTo>
                <a:cubicBezTo>
                  <a:pt x="352778" y="236438"/>
                  <a:pt x="365390" y="222250"/>
                  <a:pt x="381000" y="222250"/>
                </a:cubicBezTo>
                <a:lnTo>
                  <a:pt x="392289" y="222250"/>
                </a:lnTo>
                <a:cubicBezTo>
                  <a:pt x="381088" y="160040"/>
                  <a:pt x="337520" y="111026"/>
                  <a:pt x="282222" y="98425"/>
                </a:cubicBezTo>
                <a:lnTo>
                  <a:pt x="282222" y="111125"/>
                </a:lnTo>
                <a:cubicBezTo>
                  <a:pt x="282222" y="128687"/>
                  <a:pt x="269610" y="142875"/>
                  <a:pt x="254000" y="142875"/>
                </a:cubicBezTo>
                <a:cubicBezTo>
                  <a:pt x="238390" y="142875"/>
                  <a:pt x="225778" y="128687"/>
                  <a:pt x="225778" y="111125"/>
                </a:cubicBezTo>
                <a:lnTo>
                  <a:pt x="225778" y="98425"/>
                </a:lnTo>
                <a:cubicBezTo>
                  <a:pt x="170480" y="111026"/>
                  <a:pt x="126912" y="160040"/>
                  <a:pt x="115711" y="222250"/>
                </a:cubicBezTo>
                <a:lnTo>
                  <a:pt x="127000" y="222250"/>
                </a:lnTo>
                <a:cubicBezTo>
                  <a:pt x="142610" y="222250"/>
                  <a:pt x="155222" y="236438"/>
                  <a:pt x="155222" y="254000"/>
                </a:cubicBezTo>
                <a:cubicBezTo>
                  <a:pt x="155222" y="271562"/>
                  <a:pt x="142610" y="285750"/>
                  <a:pt x="127000" y="285750"/>
                </a:cubicBezTo>
                <a:lnTo>
                  <a:pt x="115711" y="285750"/>
                </a:lnTo>
                <a:close/>
                <a:moveTo>
                  <a:pt x="254000" y="206375"/>
                </a:moveTo>
                <a:cubicBezTo>
                  <a:pt x="277364" y="206375"/>
                  <a:pt x="296333" y="227715"/>
                  <a:pt x="296333" y="254000"/>
                </a:cubicBezTo>
                <a:cubicBezTo>
                  <a:pt x="296333" y="280285"/>
                  <a:pt x="277364" y="301625"/>
                  <a:pt x="254000" y="301625"/>
                </a:cubicBezTo>
                <a:cubicBezTo>
                  <a:pt x="230636" y="301625"/>
                  <a:pt x="211667" y="280285"/>
                  <a:pt x="211667" y="254000"/>
                </a:cubicBezTo>
                <a:cubicBezTo>
                  <a:pt x="211667" y="227715"/>
                  <a:pt x="230636" y="206375"/>
                  <a:pt x="254000" y="206375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1841500" y="23495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94%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43000" y="3048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Снижение пропуска полипов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3492500"/>
            <a:ext cx="63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работает непрерывно, без усталости. Чувствительность 94% — как у эксперта-эндоскописта с 10-летним опытом.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2032000"/>
            <a:ext cx="7048500" cy="2921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265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45143" y="-31750"/>
                </a:moveTo>
                <a:cubicBezTo>
                  <a:pt x="165213" y="-31750"/>
                  <a:pt x="181429" y="-17562"/>
                  <a:pt x="181429" y="0"/>
                </a:cubicBezTo>
                <a:lnTo>
                  <a:pt x="181429" y="95250"/>
                </a:lnTo>
                <a:lnTo>
                  <a:pt x="326571" y="95250"/>
                </a:lnTo>
                <a:lnTo>
                  <a:pt x="326571" y="0"/>
                </a:lnTo>
                <a:cubicBezTo>
                  <a:pt x="326571" y="-17562"/>
                  <a:pt x="342787" y="-31750"/>
                  <a:pt x="362857" y="-31750"/>
                </a:cubicBezTo>
                <a:cubicBezTo>
                  <a:pt x="382928" y="-31750"/>
                  <a:pt x="399143" y="-17562"/>
                  <a:pt x="399143" y="0"/>
                </a:cubicBezTo>
                <a:lnTo>
                  <a:pt x="399143" y="95250"/>
                </a:lnTo>
                <a:lnTo>
                  <a:pt x="471714" y="95250"/>
                </a:lnTo>
                <a:cubicBezTo>
                  <a:pt x="491785" y="95250"/>
                  <a:pt x="508000" y="109438"/>
                  <a:pt x="508000" y="127000"/>
                </a:cubicBezTo>
                <a:cubicBezTo>
                  <a:pt x="508000" y="144562"/>
                  <a:pt x="491785" y="158750"/>
                  <a:pt x="471714" y="158750"/>
                </a:cubicBezTo>
                <a:lnTo>
                  <a:pt x="471714" y="222250"/>
                </a:lnTo>
                <a:cubicBezTo>
                  <a:pt x="471714" y="316607"/>
                  <a:pt x="393246" y="394990"/>
                  <a:pt x="290286" y="410071"/>
                </a:cubicBezTo>
                <a:lnTo>
                  <a:pt x="290286" y="476250"/>
                </a:lnTo>
                <a:cubicBezTo>
                  <a:pt x="290286" y="493812"/>
                  <a:pt x="274071" y="508000"/>
                  <a:pt x="254000" y="508000"/>
                </a:cubicBezTo>
                <a:cubicBezTo>
                  <a:pt x="233929" y="508000"/>
                  <a:pt x="217714" y="493812"/>
                  <a:pt x="217714" y="476250"/>
                </a:cubicBezTo>
                <a:lnTo>
                  <a:pt x="217714" y="410071"/>
                </a:lnTo>
                <a:cubicBezTo>
                  <a:pt x="114754" y="394990"/>
                  <a:pt x="36286" y="316607"/>
                  <a:pt x="36286" y="222250"/>
                </a:cubicBezTo>
                <a:lnTo>
                  <a:pt x="36286" y="158750"/>
                </a:lnTo>
                <a:cubicBezTo>
                  <a:pt x="16215" y="158750"/>
                  <a:pt x="0" y="144562"/>
                  <a:pt x="0" y="127000"/>
                </a:cubicBezTo>
                <a:cubicBezTo>
                  <a:pt x="0" y="109438"/>
                  <a:pt x="16215" y="95250"/>
                  <a:pt x="36286" y="95250"/>
                </a:cubicBezTo>
                <a:lnTo>
                  <a:pt x="108857" y="95250"/>
                </a:lnTo>
                <a:lnTo>
                  <a:pt x="108857" y="0"/>
                </a:lnTo>
                <a:cubicBezTo>
                  <a:pt x="108857" y="-17562"/>
                  <a:pt x="125072" y="-31750"/>
                  <a:pt x="145143" y="-3175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0" y="2349500"/>
            <a:ext cx="190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 ₽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826500" y="3048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Без замены оборудования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826500" y="34925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Подключается к существующему парку эндоскопов через HDMI. Не требует совместимого видеопроцессора.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334000"/>
            <a:ext cx="7048500" cy="2921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565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6" name="Text 14"/>
          <p:cNvSpPr/>
          <p:nvPr/>
        </p:nvSpPr>
        <p:spPr>
          <a:xfrm>
            <a:off x="1841500" y="5651500"/>
            <a:ext cx="190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143000" y="6350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Данные остаются в клинике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67945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Полностью локальный инференс. Не требует интернета. Соответствует требованиям к медицинским данным и 152-ФЗ.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45500" y="5334000"/>
            <a:ext cx="7048500" cy="2921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6500" y="565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95250"/>
                </a:moveTo>
                <a:lnTo>
                  <a:pt x="127000" y="79375"/>
                </a:lnTo>
                <a:cubicBezTo>
                  <a:pt x="127000" y="35520"/>
                  <a:pt x="212328" y="0"/>
                  <a:pt x="317500" y="0"/>
                </a:cubicBezTo>
                <a:cubicBezTo>
                  <a:pt x="422672" y="0"/>
                  <a:pt x="508000" y="35520"/>
                  <a:pt x="508000" y="79375"/>
                </a:cubicBezTo>
                <a:lnTo>
                  <a:pt x="508000" y="95250"/>
                </a:lnTo>
                <a:cubicBezTo>
                  <a:pt x="508000" y="125611"/>
                  <a:pt x="467023" y="152003"/>
                  <a:pt x="406797" y="165398"/>
                </a:cubicBezTo>
                <a:cubicBezTo>
                  <a:pt x="404416" y="162620"/>
                  <a:pt x="401935" y="159941"/>
                  <a:pt x="399455" y="157460"/>
                </a:cubicBezTo>
                <a:cubicBezTo>
                  <a:pt x="384076" y="142280"/>
                  <a:pt x="364232" y="130770"/>
                  <a:pt x="343495" y="122238"/>
                </a:cubicBezTo>
                <a:cubicBezTo>
                  <a:pt x="301923" y="104874"/>
                  <a:pt x="247749" y="95349"/>
                  <a:pt x="190500" y="95349"/>
                </a:cubicBezTo>
                <a:cubicBezTo>
                  <a:pt x="168771" y="95349"/>
                  <a:pt x="147538" y="96738"/>
                  <a:pt x="127198" y="99417"/>
                </a:cubicBezTo>
                <a:cubicBezTo>
                  <a:pt x="127000" y="98127"/>
                  <a:pt x="127000" y="96738"/>
                  <a:pt x="127000" y="95349"/>
                </a:cubicBezTo>
                <a:close/>
                <a:moveTo>
                  <a:pt x="428625" y="350242"/>
                </a:moveTo>
                <a:lnTo>
                  <a:pt x="428625" y="304403"/>
                </a:lnTo>
                <a:cubicBezTo>
                  <a:pt x="443607" y="300534"/>
                  <a:pt x="457696" y="295970"/>
                  <a:pt x="470495" y="290612"/>
                </a:cubicBezTo>
                <a:cubicBezTo>
                  <a:pt x="483592" y="285155"/>
                  <a:pt x="496391" y="278507"/>
                  <a:pt x="508000" y="270470"/>
                </a:cubicBezTo>
                <a:lnTo>
                  <a:pt x="508000" y="285750"/>
                </a:lnTo>
                <a:cubicBezTo>
                  <a:pt x="508000" y="312341"/>
                  <a:pt x="476746" y="335855"/>
                  <a:pt x="428625" y="350242"/>
                </a:cubicBezTo>
                <a:close/>
                <a:moveTo>
                  <a:pt x="428625" y="254992"/>
                </a:moveTo>
                <a:lnTo>
                  <a:pt x="428625" y="222250"/>
                </a:lnTo>
                <a:cubicBezTo>
                  <a:pt x="428625" y="217785"/>
                  <a:pt x="428228" y="213519"/>
                  <a:pt x="427633" y="209352"/>
                </a:cubicBezTo>
                <a:cubicBezTo>
                  <a:pt x="443012" y="205482"/>
                  <a:pt x="457398" y="200819"/>
                  <a:pt x="470495" y="195263"/>
                </a:cubicBezTo>
                <a:cubicBezTo>
                  <a:pt x="483592" y="189706"/>
                  <a:pt x="496391" y="183158"/>
                  <a:pt x="508000" y="175121"/>
                </a:cubicBezTo>
                <a:lnTo>
                  <a:pt x="508000" y="190401"/>
                </a:lnTo>
                <a:cubicBezTo>
                  <a:pt x="508000" y="216991"/>
                  <a:pt x="476746" y="240506"/>
                  <a:pt x="428625" y="254893"/>
                </a:cubicBezTo>
                <a:close/>
                <a:moveTo>
                  <a:pt x="0" y="238125"/>
                </a:moveTo>
                <a:lnTo>
                  <a:pt x="0" y="222250"/>
                </a:lnTo>
                <a:cubicBezTo>
                  <a:pt x="0" y="178395"/>
                  <a:pt x="85328" y="142875"/>
                  <a:pt x="190500" y="142875"/>
                </a:cubicBezTo>
                <a:cubicBezTo>
                  <a:pt x="295672" y="142875"/>
                  <a:pt x="381000" y="178395"/>
                  <a:pt x="381000" y="222250"/>
                </a:cubicBezTo>
                <a:lnTo>
                  <a:pt x="381000" y="238125"/>
                </a:lnTo>
                <a:cubicBezTo>
                  <a:pt x="381000" y="281980"/>
                  <a:pt x="295672" y="317500"/>
                  <a:pt x="190500" y="317500"/>
                </a:cubicBezTo>
                <a:cubicBezTo>
                  <a:pt x="85328" y="317500"/>
                  <a:pt x="0" y="281980"/>
                  <a:pt x="0" y="238125"/>
                </a:cubicBezTo>
                <a:close/>
                <a:moveTo>
                  <a:pt x="381000" y="333375"/>
                </a:moveTo>
                <a:cubicBezTo>
                  <a:pt x="381000" y="377230"/>
                  <a:pt x="295672" y="412750"/>
                  <a:pt x="190500" y="412750"/>
                </a:cubicBezTo>
                <a:cubicBezTo>
                  <a:pt x="85328" y="412750"/>
                  <a:pt x="0" y="377230"/>
                  <a:pt x="0" y="333375"/>
                </a:cubicBezTo>
                <a:lnTo>
                  <a:pt x="0" y="318095"/>
                </a:lnTo>
                <a:cubicBezTo>
                  <a:pt x="11509" y="326132"/>
                  <a:pt x="24309" y="332680"/>
                  <a:pt x="37505" y="338237"/>
                </a:cubicBezTo>
                <a:cubicBezTo>
                  <a:pt x="79077" y="355600"/>
                  <a:pt x="133251" y="365125"/>
                  <a:pt x="190500" y="365125"/>
                </a:cubicBezTo>
                <a:cubicBezTo>
                  <a:pt x="247749" y="365125"/>
                  <a:pt x="301923" y="355501"/>
                  <a:pt x="343495" y="338237"/>
                </a:cubicBezTo>
                <a:cubicBezTo>
                  <a:pt x="356592" y="332780"/>
                  <a:pt x="369391" y="326132"/>
                  <a:pt x="381000" y="318095"/>
                </a:cubicBezTo>
                <a:lnTo>
                  <a:pt x="381000" y="333375"/>
                </a:lnTo>
                <a:close/>
                <a:moveTo>
                  <a:pt x="381000" y="413345"/>
                </a:moveTo>
                <a:lnTo>
                  <a:pt x="381000" y="428625"/>
                </a:lnTo>
                <a:cubicBezTo>
                  <a:pt x="381000" y="472480"/>
                  <a:pt x="295672" y="508000"/>
                  <a:pt x="190500" y="508000"/>
                </a:cubicBezTo>
                <a:cubicBezTo>
                  <a:pt x="85328" y="508000"/>
                  <a:pt x="0" y="472480"/>
                  <a:pt x="0" y="428625"/>
                </a:cubicBezTo>
                <a:lnTo>
                  <a:pt x="0" y="413345"/>
                </a:lnTo>
                <a:cubicBezTo>
                  <a:pt x="11509" y="421382"/>
                  <a:pt x="24309" y="427930"/>
                  <a:pt x="37505" y="433487"/>
                </a:cubicBezTo>
                <a:cubicBezTo>
                  <a:pt x="79077" y="450850"/>
                  <a:pt x="133251" y="460375"/>
                  <a:pt x="190500" y="460375"/>
                </a:cubicBezTo>
                <a:cubicBezTo>
                  <a:pt x="247749" y="460375"/>
                  <a:pt x="301923" y="450751"/>
                  <a:pt x="343495" y="433487"/>
                </a:cubicBezTo>
                <a:cubicBezTo>
                  <a:pt x="356592" y="428030"/>
                  <a:pt x="369391" y="421382"/>
                  <a:pt x="381000" y="413345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1" name="Text 19"/>
          <p:cNvSpPr/>
          <p:nvPr/>
        </p:nvSpPr>
        <p:spPr>
          <a:xfrm>
            <a:off x="8826500" y="6350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Экономическая эффективность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826500" y="67945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Лечение пропущенного рака в 10–50 раз выше ранней диагностики. Один предотвращённый случай окупает систему.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ЭКОНОМИКА И РЫНОК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2540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762000" y="4318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Экономика и рынок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62000" y="5334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550 000 ₽ «под ключ» с маржинальностью 40.3%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62000" y="6350000"/>
            <a:ext cx="1270000" cy="0"/>
          </a:xfrm>
          <a:prstGeom prst="straightConnector1">
            <a:avLst/>
          </a:prstGeom>
          <a:noFill/>
          <a:ln w="38100">
            <a:solidFill>
              <a:srgbClr val="00E5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ЭКОНОМИКА И РЫНОК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Унит-экономика</a:t>
            </a:r>
            <a:r>
              <a:rPr lang="en-US" sz="2800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203200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222500"/>
            <a:ext cx="393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550 000 ₽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79500" y="29210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Базовый комплект «под ключ»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9500" y="33020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Инференс-блок + ПО + кабели + настройка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42000" y="203200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80500" y="2133600"/>
            <a:ext cx="1143000" cy="330200"/>
          </a:xfrm>
          <a:prstGeom prst="roundRect">
            <a:avLst>
              <a:gd name="adj" fmla="val 8000"/>
            </a:avLst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9080500" y="2133600"/>
            <a:ext cx="114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0A0E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59500" y="2540000"/>
            <a:ext cx="393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35 000 ₽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59500" y="32385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Подписка / год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59500" y="36195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 + поддержка + обновления моделей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22000" y="203200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39500" y="2222500"/>
            <a:ext cx="393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30 000 ₽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1239500" y="29210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Разово за установку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239500" y="33020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Выезд специалиста, интеграция, обучение персонала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47625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762000" y="5016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РАСЧЁТ ПРИБЫЛИ (ОСН)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5524500"/>
            <a:ext cx="14732000" cy="1397000"/>
          </a:xfrm>
          <a:prstGeom prst="roundRect">
            <a:avLst>
              <a:gd name="adj" fmla="val 3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715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550 000 ₽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143000" y="6286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ЦЕНА ПРОДАЖИ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73500" y="5715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08500" y="5715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200 000 ₽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508500" y="6286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СЕБЕСТОИМОСТЬ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39000" y="5715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874000" y="5715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128 333 ₽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874000" y="6286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НАЛОГИ (ОСН)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04500" y="5715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1239500" y="5715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221 667 ₽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11239500" y="6286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ПРИБЫЛЬ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370118" y="7323282"/>
            <a:ext cx="7048500" cy="889000"/>
          </a:xfrm>
          <a:prstGeom prst="roundRect">
            <a:avLst>
              <a:gd name="adj" fmla="val 5000"/>
            </a:avLst>
          </a:prstGeom>
          <a:solidFill>
            <a:srgbClr val="0F1430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3000" y="7450282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2.76×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6339609" y="7450282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на единицу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ЭКОНОМИКА И РЫНОК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 5–7 раз дешевле при сопоставимом качестве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32000"/>
          <a:ext cx="14732000" cy="4572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E5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Критерий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E5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ArtInCol (NMITS)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E5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ПОЛИСКОП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Стоимость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3.75 млн ₽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E5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550 тыс. ₽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Подключение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Совместимый видеопроцессор, HD-SDI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E5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Любой эндоскоп через HDMI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Парк эндоскопов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Требует совместное железо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E5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Работает с существующим парком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Готовность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Нет — Legendo отдельно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E5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Да — всё включено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Ценовой сегмент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Enterprise (сервер + МИС)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E5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Доступно любой клинике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6731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* Источник: КП ООО «Ventum Med» от 23.06.2026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62000" y="7366000"/>
            <a:ext cx="3429000" cy="889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16000" y="762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5123" y="48687"/>
                </a:moveTo>
                <a:cubicBezTo>
                  <a:pt x="356473" y="55910"/>
                  <a:pt x="359013" y="69800"/>
                  <a:pt x="350758" y="79732"/>
                </a:cubicBezTo>
                <a:lnTo>
                  <a:pt x="147558" y="324207"/>
                </a:lnTo>
                <a:cubicBezTo>
                  <a:pt x="143193" y="329486"/>
                  <a:pt x="136446" y="332750"/>
                  <a:pt x="128984" y="333306"/>
                </a:cubicBezTo>
                <a:cubicBezTo>
                  <a:pt x="121523" y="333861"/>
                  <a:pt x="114300" y="331430"/>
                  <a:pt x="109061" y="326846"/>
                </a:cubicBezTo>
                <a:lnTo>
                  <a:pt x="7461" y="237946"/>
                </a:lnTo>
                <a:cubicBezTo>
                  <a:pt x="-2461" y="229265"/>
                  <a:pt x="-2461" y="215166"/>
                  <a:pt x="7461" y="206484"/>
                </a:cubicBezTo>
                <a:cubicBezTo>
                  <a:pt x="17383" y="197803"/>
                  <a:pt x="33496" y="197803"/>
                  <a:pt x="43418" y="206484"/>
                </a:cubicBezTo>
                <a:lnTo>
                  <a:pt x="123984" y="276979"/>
                </a:lnTo>
                <a:lnTo>
                  <a:pt x="309721" y="53548"/>
                </a:lnTo>
                <a:cubicBezTo>
                  <a:pt x="317976" y="43617"/>
                  <a:pt x="333851" y="41394"/>
                  <a:pt x="345202" y="48617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8" name="Text 5"/>
          <p:cNvSpPr/>
          <p:nvPr/>
        </p:nvSpPr>
        <p:spPr>
          <a:xfrm>
            <a:off x="1498600" y="7493000"/>
            <a:ext cx="247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 7 раз дешевле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Доступно частным клиникам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08500" y="7366000"/>
            <a:ext cx="3429000" cy="889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62500" y="762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5123" y="48687"/>
                </a:moveTo>
                <a:cubicBezTo>
                  <a:pt x="356473" y="55910"/>
                  <a:pt x="359013" y="69800"/>
                  <a:pt x="350758" y="79732"/>
                </a:cubicBezTo>
                <a:lnTo>
                  <a:pt x="147558" y="324207"/>
                </a:lnTo>
                <a:cubicBezTo>
                  <a:pt x="143193" y="329486"/>
                  <a:pt x="136446" y="332750"/>
                  <a:pt x="128984" y="333306"/>
                </a:cubicBezTo>
                <a:cubicBezTo>
                  <a:pt x="121523" y="333861"/>
                  <a:pt x="114300" y="331430"/>
                  <a:pt x="109061" y="326846"/>
                </a:cubicBezTo>
                <a:lnTo>
                  <a:pt x="7461" y="237946"/>
                </a:lnTo>
                <a:cubicBezTo>
                  <a:pt x="-2461" y="229265"/>
                  <a:pt x="-2461" y="215166"/>
                  <a:pt x="7461" y="206484"/>
                </a:cubicBezTo>
                <a:cubicBezTo>
                  <a:pt x="17383" y="197803"/>
                  <a:pt x="33496" y="197803"/>
                  <a:pt x="43418" y="206484"/>
                </a:cubicBezTo>
                <a:lnTo>
                  <a:pt x="123984" y="276979"/>
                </a:lnTo>
                <a:lnTo>
                  <a:pt x="309721" y="53548"/>
                </a:lnTo>
                <a:cubicBezTo>
                  <a:pt x="317976" y="43617"/>
                  <a:pt x="333851" y="41394"/>
                  <a:pt x="345202" y="48617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4" name="Text 8"/>
          <p:cNvSpPr/>
          <p:nvPr/>
        </p:nvSpPr>
        <p:spPr>
          <a:xfrm>
            <a:off x="5245100" y="7493000"/>
            <a:ext cx="247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Plug-and-play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Никакой модификации оборудования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55000" y="7366000"/>
            <a:ext cx="3429000" cy="889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09000" y="762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5123" y="48687"/>
                </a:moveTo>
                <a:cubicBezTo>
                  <a:pt x="356473" y="55910"/>
                  <a:pt x="359013" y="69800"/>
                  <a:pt x="350758" y="79732"/>
                </a:cubicBezTo>
                <a:lnTo>
                  <a:pt x="147558" y="324207"/>
                </a:lnTo>
                <a:cubicBezTo>
                  <a:pt x="143193" y="329486"/>
                  <a:pt x="136446" y="332750"/>
                  <a:pt x="128984" y="333306"/>
                </a:cubicBezTo>
                <a:cubicBezTo>
                  <a:pt x="121523" y="333861"/>
                  <a:pt x="114300" y="331430"/>
                  <a:pt x="109061" y="326846"/>
                </a:cubicBezTo>
                <a:lnTo>
                  <a:pt x="7461" y="237946"/>
                </a:lnTo>
                <a:cubicBezTo>
                  <a:pt x="-2461" y="229265"/>
                  <a:pt x="-2461" y="215166"/>
                  <a:pt x="7461" y="206484"/>
                </a:cubicBezTo>
                <a:cubicBezTo>
                  <a:pt x="17383" y="197803"/>
                  <a:pt x="33496" y="197803"/>
                  <a:pt x="43418" y="206484"/>
                </a:cubicBezTo>
                <a:lnTo>
                  <a:pt x="123984" y="276979"/>
                </a:lnTo>
                <a:lnTo>
                  <a:pt x="309721" y="53548"/>
                </a:lnTo>
                <a:cubicBezTo>
                  <a:pt x="317976" y="43617"/>
                  <a:pt x="333851" y="41394"/>
                  <a:pt x="345202" y="48617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4" name="Text 11"/>
          <p:cNvSpPr/>
          <p:nvPr/>
        </p:nvSpPr>
        <p:spPr>
          <a:xfrm>
            <a:off x="8991600" y="7493000"/>
            <a:ext cx="247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Всё включено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ПО, поддержка, обновления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2001500" y="7366000"/>
            <a:ext cx="3492500" cy="889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255500" y="762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5123" y="48687"/>
                </a:moveTo>
                <a:cubicBezTo>
                  <a:pt x="356473" y="55910"/>
                  <a:pt x="359013" y="69800"/>
                  <a:pt x="350758" y="79732"/>
                </a:cubicBezTo>
                <a:lnTo>
                  <a:pt x="147558" y="324207"/>
                </a:lnTo>
                <a:cubicBezTo>
                  <a:pt x="143193" y="329486"/>
                  <a:pt x="136446" y="332750"/>
                  <a:pt x="128984" y="333306"/>
                </a:cubicBezTo>
                <a:cubicBezTo>
                  <a:pt x="121523" y="333861"/>
                  <a:pt x="114300" y="331430"/>
                  <a:pt x="109061" y="326846"/>
                </a:cubicBezTo>
                <a:lnTo>
                  <a:pt x="7461" y="237946"/>
                </a:lnTo>
                <a:cubicBezTo>
                  <a:pt x="-2461" y="229265"/>
                  <a:pt x="-2461" y="215166"/>
                  <a:pt x="7461" y="206484"/>
                </a:cubicBezTo>
                <a:cubicBezTo>
                  <a:pt x="17383" y="197803"/>
                  <a:pt x="33496" y="197803"/>
                  <a:pt x="43418" y="206484"/>
                </a:cubicBezTo>
                <a:lnTo>
                  <a:pt x="123984" y="276979"/>
                </a:lnTo>
                <a:lnTo>
                  <a:pt x="309721" y="53548"/>
                </a:lnTo>
                <a:cubicBezTo>
                  <a:pt x="317976" y="43617"/>
                  <a:pt x="333851" y="41394"/>
                  <a:pt x="345202" y="48617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7" name="Text 14"/>
          <p:cNvSpPr/>
          <p:nvPr/>
        </p:nvSpPr>
        <p:spPr>
          <a:xfrm>
            <a:off x="12738100" y="7493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Локальный инференс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Без облака, без интернета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ЭКОНОМИКА И РЫНОК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5 000 кабинетов, потенциал 2.83 млрд 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2032000"/>
            <a:ext cx="4572000" cy="1270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59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285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Эндоскопических кабинетов по всей России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42000" y="2032000"/>
            <a:ext cx="4572000" cy="1270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595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9" name="Text 7"/>
          <p:cNvSpPr/>
          <p:nvPr/>
        </p:nvSpPr>
        <p:spPr>
          <a:xfrm>
            <a:off x="6731000" y="22225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Рост спроса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31000" y="2603500"/>
            <a:ext cx="342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 AI-диагностику, госпрограммы цифровизации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22000" y="2032000"/>
            <a:ext cx="4572000" cy="1270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395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58057" y="11351"/>
                  <a:pt x="45085" y="0"/>
                  <a:pt x="29029" y="0"/>
                </a:cubicBezTo>
                <a:cubicBezTo>
                  <a:pt x="12972" y="0"/>
                  <a:pt x="0" y="11351"/>
                  <a:pt x="0" y="25400"/>
                </a:cubicBezTo>
                <a:lnTo>
                  <a:pt x="0" y="381000"/>
                </a:lnTo>
                <a:cubicBezTo>
                  <a:pt x="0" y="395049"/>
                  <a:pt x="12972" y="406400"/>
                  <a:pt x="29029" y="406400"/>
                </a:cubicBezTo>
                <a:cubicBezTo>
                  <a:pt x="45085" y="406400"/>
                  <a:pt x="58057" y="395049"/>
                  <a:pt x="58057" y="381000"/>
                </a:cubicBezTo>
                <a:lnTo>
                  <a:pt x="58057" y="284480"/>
                </a:lnTo>
                <a:lnTo>
                  <a:pt x="114935" y="269557"/>
                </a:lnTo>
                <a:cubicBezTo>
                  <a:pt x="152944" y="259556"/>
                  <a:pt x="193947" y="262652"/>
                  <a:pt x="229416" y="278209"/>
                </a:cubicBezTo>
                <a:cubicBezTo>
                  <a:pt x="268151" y="295196"/>
                  <a:pt x="313327" y="297259"/>
                  <a:pt x="353876" y="283924"/>
                </a:cubicBezTo>
                <a:lnTo>
                  <a:pt x="387531" y="272891"/>
                </a:lnTo>
                <a:cubicBezTo>
                  <a:pt x="398871" y="269161"/>
                  <a:pt x="406400" y="259715"/>
                  <a:pt x="406400" y="249079"/>
                </a:cubicBezTo>
                <a:lnTo>
                  <a:pt x="406400" y="52467"/>
                </a:lnTo>
                <a:cubicBezTo>
                  <a:pt x="406400" y="34211"/>
                  <a:pt x="384447" y="22304"/>
                  <a:pt x="365760" y="30480"/>
                </a:cubicBezTo>
                <a:lnTo>
                  <a:pt x="355056" y="35163"/>
                </a:lnTo>
                <a:cubicBezTo>
                  <a:pt x="314325" y="53022"/>
                  <a:pt x="266337" y="53022"/>
                  <a:pt x="225516" y="35163"/>
                </a:cubicBezTo>
                <a:cubicBezTo>
                  <a:pt x="192496" y="20717"/>
                  <a:pt x="154486" y="17859"/>
                  <a:pt x="119199" y="27146"/>
                </a:cubicBezTo>
                <a:lnTo>
                  <a:pt x="58057" y="43180"/>
                </a:lnTo>
                <a:lnTo>
                  <a:pt x="58057" y="25400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0" y="22225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Импортозамещение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11000" y="2603500"/>
            <a:ext cx="342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Уход западных решений открывает рынок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2000" y="374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Сценарии покрытия рынка</a:t>
            </a:r>
            <a:endParaRPr lang="en-US" sz="2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762000" y="4254500"/>
          <a:ext cx="8890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0" y="4254500"/>
          <a:ext cx="5334000" cy="4064000"/>
        </p:xfrm>
        <a:graphic>
          <a:graphicData uri="http://schemas.openxmlformats.org/drawingml/2006/table">
            <a:tbl>
              <a:tblPr/>
              <a:tblGrid>
                <a:gridCol w="1333500"/>
                <a:gridCol w="1333500"/>
                <a:gridCol w="1333500"/>
                <a:gridCol w="1333500"/>
              </a:tblGrid>
              <a:tr h="6502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E5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Покрытие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E5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Кабинетов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E5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Оборуд.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E5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Итого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E5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0.19 млрд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0.28 млрд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E5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30%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1 500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0.58 млрд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0.85 млрд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E5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60%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3 000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1.16 млрд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1.70 млрд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7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E5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5 000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1.93 млрд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0E0E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2.83 млрд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ЭКОНОМИКА И РЫНОК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 колоноскопии ко всей эндоскопии: ×4–5 рост рынка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78000" y="2476500"/>
            <a:ext cx="12700000" cy="0"/>
          </a:xfrm>
          <a:prstGeom prst="straightConnector1">
            <a:avLst/>
          </a:prstGeom>
          <a:noFill/>
          <a:ln w="25400">
            <a:solidFill>
              <a:srgbClr val="2A2F4D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676400" y="2374900"/>
            <a:ext cx="203200" cy="2032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0" y="2374900"/>
            <a:ext cx="203200" cy="203200"/>
          </a:xfrm>
          <a:prstGeom prst="ellipse">
            <a:avLst/>
          </a:prstGeom>
          <a:solidFill>
            <a:srgbClr val="2A2F4D"/>
          </a:solidFill>
          <a:ln/>
        </p:spPr>
      </p:sp>
      <p:sp>
        <p:nvSpPr>
          <p:cNvPr id="7" name="Shape 5"/>
          <p:cNvSpPr/>
          <p:nvPr/>
        </p:nvSpPr>
        <p:spPr>
          <a:xfrm>
            <a:off x="9296400" y="2374900"/>
            <a:ext cx="203200" cy="203200"/>
          </a:xfrm>
          <a:prstGeom prst="ellipse">
            <a:avLst/>
          </a:prstGeom>
          <a:solidFill>
            <a:srgbClr val="2A2F4D"/>
          </a:solidFill>
          <a:ln/>
        </p:spPr>
      </p:sp>
      <p:sp>
        <p:nvSpPr>
          <p:cNvPr id="8" name="Shape 6"/>
          <p:cNvSpPr/>
          <p:nvPr/>
        </p:nvSpPr>
        <p:spPr>
          <a:xfrm>
            <a:off x="13106400" y="2374900"/>
            <a:ext cx="203200" cy="203200"/>
          </a:xfrm>
          <a:prstGeom prst="ellipse">
            <a:avLst/>
          </a:prstGeom>
          <a:solidFill>
            <a:srgbClr val="2A2F4D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2921000"/>
            <a:ext cx="3429000" cy="3683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9500" y="31496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ЭТАП 1 — СЕЙЧАС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79500" y="3530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165100" y="279400"/>
                </a:moveTo>
                <a:cubicBezTo>
                  <a:pt x="228184" y="279400"/>
                  <a:pt x="279400" y="228184"/>
                  <a:pt x="279400" y="165100"/>
                </a:cubicBezTo>
                <a:cubicBezTo>
                  <a:pt x="279400" y="102016"/>
                  <a:pt x="228184" y="50800"/>
                  <a:pt x="165100" y="50800"/>
                </a:cubicBezTo>
                <a:cubicBezTo>
                  <a:pt x="102016" y="50800"/>
                  <a:pt x="50800" y="102016"/>
                  <a:pt x="50800" y="165100"/>
                </a:cubicBezTo>
                <a:cubicBezTo>
                  <a:pt x="50800" y="228184"/>
                  <a:pt x="102016" y="279400"/>
                  <a:pt x="165100" y="27940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79500" y="4064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Колоноскопия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79500" y="45085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Детекция полипов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Профилактика колоректального рака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0" y="2921000"/>
            <a:ext cx="3429000" cy="3683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9500" y="31496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ЭТАП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89500" y="3530600"/>
            <a:ext cx="406400" cy="4064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89500" y="4064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Гастроскопия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89500" y="45085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Раннее выявление рака желудка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Детекция H. pylori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382000" y="2921000"/>
            <a:ext cx="3429000" cy="3683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99500" y="31496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ЭТАП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99500" y="3530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5778" y="25400"/>
                </a:moveTo>
                <a:cubicBezTo>
                  <a:pt x="225778" y="11351"/>
                  <a:pt x="215688" y="0"/>
                  <a:pt x="203200" y="0"/>
                </a:cubicBezTo>
                <a:cubicBezTo>
                  <a:pt x="190712" y="0"/>
                  <a:pt x="180622" y="11351"/>
                  <a:pt x="180622" y="25400"/>
                </a:cubicBezTo>
                <a:lnTo>
                  <a:pt x="180622" y="138033"/>
                </a:lnTo>
                <a:lnTo>
                  <a:pt x="158044" y="153273"/>
                </a:lnTo>
                <a:lnTo>
                  <a:pt x="158044" y="60642"/>
                </a:lnTo>
                <a:cubicBezTo>
                  <a:pt x="158044" y="41196"/>
                  <a:pt x="144004" y="25400"/>
                  <a:pt x="126718" y="25400"/>
                </a:cubicBezTo>
                <a:cubicBezTo>
                  <a:pt x="117898" y="25400"/>
                  <a:pt x="109502" y="29607"/>
                  <a:pt x="103576" y="36909"/>
                </a:cubicBezTo>
                <a:lnTo>
                  <a:pt x="84949" y="59928"/>
                </a:lnTo>
                <a:cubicBezTo>
                  <a:pt x="30268" y="127635"/>
                  <a:pt x="0" y="215741"/>
                  <a:pt x="0" y="307181"/>
                </a:cubicBezTo>
                <a:lnTo>
                  <a:pt x="0" y="331391"/>
                </a:lnTo>
                <a:cubicBezTo>
                  <a:pt x="0" y="372824"/>
                  <a:pt x="29845" y="406400"/>
                  <a:pt x="66675" y="406400"/>
                </a:cubicBezTo>
                <a:cubicBezTo>
                  <a:pt x="82197" y="406400"/>
                  <a:pt x="97508" y="402352"/>
                  <a:pt x="111407" y="394494"/>
                </a:cubicBezTo>
                <a:lnTo>
                  <a:pt x="114935" y="392509"/>
                </a:lnTo>
                <a:cubicBezTo>
                  <a:pt x="141323" y="377666"/>
                  <a:pt x="157974" y="347345"/>
                  <a:pt x="157974" y="314087"/>
                </a:cubicBezTo>
                <a:lnTo>
                  <a:pt x="157974" y="212487"/>
                </a:lnTo>
                <a:lnTo>
                  <a:pt x="203129" y="182007"/>
                </a:lnTo>
                <a:lnTo>
                  <a:pt x="248285" y="212487"/>
                </a:lnTo>
                <a:lnTo>
                  <a:pt x="248285" y="314087"/>
                </a:lnTo>
                <a:cubicBezTo>
                  <a:pt x="248285" y="347266"/>
                  <a:pt x="264936" y="377666"/>
                  <a:pt x="291324" y="392509"/>
                </a:cubicBezTo>
                <a:lnTo>
                  <a:pt x="294852" y="394494"/>
                </a:lnTo>
                <a:cubicBezTo>
                  <a:pt x="308751" y="402273"/>
                  <a:pt x="324062" y="406400"/>
                  <a:pt x="339584" y="406400"/>
                </a:cubicBezTo>
                <a:cubicBezTo>
                  <a:pt x="376414" y="406400"/>
                  <a:pt x="406259" y="372824"/>
                  <a:pt x="406259" y="331391"/>
                </a:cubicBezTo>
                <a:lnTo>
                  <a:pt x="406259" y="326469"/>
                </a:lnTo>
                <a:cubicBezTo>
                  <a:pt x="406259" y="238284"/>
                  <a:pt x="380365" y="152638"/>
                  <a:pt x="332599" y="82788"/>
                </a:cubicBezTo>
                <a:lnTo>
                  <a:pt x="302613" y="38656"/>
                </a:lnTo>
                <a:cubicBezTo>
                  <a:pt x="296898" y="30242"/>
                  <a:pt x="288008" y="25400"/>
                  <a:pt x="278624" y="25400"/>
                </a:cubicBezTo>
                <a:cubicBezTo>
                  <a:pt x="261902" y="25400"/>
                  <a:pt x="248356" y="40640"/>
                  <a:pt x="248356" y="59452"/>
                </a:cubicBezTo>
                <a:lnTo>
                  <a:pt x="248356" y="153273"/>
                </a:lnTo>
                <a:lnTo>
                  <a:pt x="225778" y="138033"/>
                </a:lnTo>
                <a:lnTo>
                  <a:pt x="225778" y="25400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2" name="Text 20"/>
          <p:cNvSpPr/>
          <p:nvPr/>
        </p:nvSpPr>
        <p:spPr>
          <a:xfrm>
            <a:off x="8699500" y="4064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Бронхоскопия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699500" y="45085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Диагностика рака лёгкого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 ранней стадии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2192000" y="2921000"/>
            <a:ext cx="3302000" cy="3683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509500" y="3149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ЭТАП 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509500" y="3530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91017" y="406400"/>
                  <a:pt x="0" y="338138"/>
                  <a:pt x="0" y="254000"/>
                </a:cubicBezTo>
                <a:cubicBezTo>
                  <a:pt x="0" y="181610"/>
                  <a:pt x="137795" y="36433"/>
                  <a:pt x="176318" y="-2778"/>
                </a:cubicBezTo>
                <a:cubicBezTo>
                  <a:pt x="182563" y="-9128"/>
                  <a:pt x="192405" y="-12700"/>
                  <a:pt x="202988" y="-12700"/>
                </a:cubicBezTo>
                <a:lnTo>
                  <a:pt x="203412" y="-12700"/>
                </a:lnTo>
                <a:cubicBezTo>
                  <a:pt x="213995" y="-12700"/>
                  <a:pt x="223838" y="-9128"/>
                  <a:pt x="230082" y="-2778"/>
                </a:cubicBezTo>
                <a:cubicBezTo>
                  <a:pt x="268605" y="36433"/>
                  <a:pt x="406400" y="181610"/>
                  <a:pt x="406400" y="254000"/>
                </a:cubicBezTo>
                <a:cubicBezTo>
                  <a:pt x="406400" y="338138"/>
                  <a:pt x="315383" y="406400"/>
                  <a:pt x="203200" y="406400"/>
                </a:cubicBezTo>
                <a:close/>
                <a:moveTo>
                  <a:pt x="118533" y="247650"/>
                </a:moveTo>
                <a:cubicBezTo>
                  <a:pt x="118533" y="237093"/>
                  <a:pt x="107209" y="228600"/>
                  <a:pt x="93133" y="228600"/>
                </a:cubicBezTo>
                <a:cubicBezTo>
                  <a:pt x="79058" y="228600"/>
                  <a:pt x="67733" y="237093"/>
                  <a:pt x="67733" y="247650"/>
                </a:cubicBezTo>
                <a:cubicBezTo>
                  <a:pt x="67733" y="307261"/>
                  <a:pt x="132186" y="355600"/>
                  <a:pt x="211667" y="355600"/>
                </a:cubicBezTo>
                <a:cubicBezTo>
                  <a:pt x="225743" y="355600"/>
                  <a:pt x="237067" y="347107"/>
                  <a:pt x="237067" y="336550"/>
                </a:cubicBezTo>
                <a:cubicBezTo>
                  <a:pt x="237067" y="325993"/>
                  <a:pt x="225743" y="317500"/>
                  <a:pt x="211667" y="317500"/>
                </a:cubicBezTo>
                <a:cubicBezTo>
                  <a:pt x="160232" y="317500"/>
                  <a:pt x="118533" y="286226"/>
                  <a:pt x="118533" y="247650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7" name="Text 25"/>
          <p:cNvSpPr/>
          <p:nvPr/>
        </p:nvSpPr>
        <p:spPr>
          <a:xfrm>
            <a:off x="12509500" y="40640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Цистоскопия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509500" y="4508500"/>
            <a:ext cx="266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Выявление рака мочевого пузыря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62000" y="70485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Каждый новый тип эндоскопии — ×4–5 рост адресуемого рынка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62000" y="7747000"/>
            <a:ext cx="14732000" cy="635000"/>
          </a:xfrm>
          <a:prstGeom prst="roundRect">
            <a:avLst>
              <a:gd name="adj" fmla="val 3000"/>
            </a:avLst>
          </a:prstGeom>
          <a:solidFill>
            <a:srgbClr val="0F1430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70000" y="78105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Нацпроекты · ИИ-стратегия · Импортозамещение</a:t>
            </a: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государственная поддержка развития медицинского ИИ в РФ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3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КОМАНДА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Экспертиза в медицинских ИС, эндоскопии и ML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2032000"/>
            <a:ext cx="3429000" cy="4318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1500" y="2349500"/>
            <a:ext cx="762000" cy="762000"/>
          </a:xfrm>
          <a:prstGeom prst="ellipse">
            <a:avLst/>
          </a:prstGeom>
          <a:solidFill>
            <a:srgbClr val="0F1430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2000" y="254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184547"/>
                </a:moveTo>
                <a:cubicBezTo>
                  <a:pt x="134175" y="184547"/>
                  <a:pt x="88446" y="144534"/>
                  <a:pt x="88446" y="95250"/>
                </a:cubicBezTo>
                <a:cubicBezTo>
                  <a:pt x="88446" y="45966"/>
                  <a:pt x="134175" y="5953"/>
                  <a:pt x="190500" y="5953"/>
                </a:cubicBezTo>
                <a:cubicBezTo>
                  <a:pt x="246825" y="5953"/>
                  <a:pt x="292554" y="45966"/>
                  <a:pt x="292554" y="95250"/>
                </a:cubicBezTo>
                <a:cubicBezTo>
                  <a:pt x="292554" y="144534"/>
                  <a:pt x="246825" y="184547"/>
                  <a:pt x="190500" y="184547"/>
                </a:cubicBezTo>
                <a:close/>
                <a:moveTo>
                  <a:pt x="164561" y="226219"/>
                </a:moveTo>
                <a:lnTo>
                  <a:pt x="216439" y="226219"/>
                </a:lnTo>
                <a:cubicBezTo>
                  <a:pt x="224688" y="226219"/>
                  <a:pt x="231321" y="232023"/>
                  <a:pt x="231321" y="239241"/>
                </a:cubicBezTo>
                <a:cubicBezTo>
                  <a:pt x="231321" y="242367"/>
                  <a:pt x="230046" y="245343"/>
                  <a:pt x="227750" y="247724"/>
                </a:cubicBezTo>
                <a:lnTo>
                  <a:pt x="204447" y="271537"/>
                </a:lnTo>
                <a:lnTo>
                  <a:pt x="230811" y="357188"/>
                </a:lnTo>
                <a:lnTo>
                  <a:pt x="231321" y="357188"/>
                </a:lnTo>
                <a:lnTo>
                  <a:pt x="260747" y="254124"/>
                </a:lnTo>
                <a:cubicBezTo>
                  <a:pt x="262618" y="247650"/>
                  <a:pt x="270187" y="243706"/>
                  <a:pt x="277331" y="246087"/>
                </a:cubicBezTo>
                <a:cubicBezTo>
                  <a:pt x="329973" y="263649"/>
                  <a:pt x="367393" y="308297"/>
                  <a:pt x="367393" y="360536"/>
                </a:cubicBezTo>
                <a:cubicBezTo>
                  <a:pt x="367393" y="371773"/>
                  <a:pt x="356932" y="380926"/>
                  <a:pt x="344091" y="380926"/>
                </a:cubicBezTo>
                <a:lnTo>
                  <a:pt x="36909" y="381000"/>
                </a:lnTo>
                <a:cubicBezTo>
                  <a:pt x="24068" y="381000"/>
                  <a:pt x="13607" y="371847"/>
                  <a:pt x="13607" y="360611"/>
                </a:cubicBezTo>
                <a:cubicBezTo>
                  <a:pt x="13607" y="308372"/>
                  <a:pt x="51027" y="263723"/>
                  <a:pt x="103669" y="246162"/>
                </a:cubicBezTo>
                <a:cubicBezTo>
                  <a:pt x="110813" y="243780"/>
                  <a:pt x="118382" y="247724"/>
                  <a:pt x="120253" y="254198"/>
                </a:cubicBezTo>
                <a:lnTo>
                  <a:pt x="149679" y="357262"/>
                </a:lnTo>
                <a:lnTo>
                  <a:pt x="150189" y="357262"/>
                </a:lnTo>
                <a:lnTo>
                  <a:pt x="176553" y="271611"/>
                </a:lnTo>
                <a:lnTo>
                  <a:pt x="153250" y="247799"/>
                </a:lnTo>
                <a:cubicBezTo>
                  <a:pt x="150954" y="245418"/>
                  <a:pt x="149679" y="242441"/>
                  <a:pt x="149679" y="239316"/>
                </a:cubicBezTo>
                <a:cubicBezTo>
                  <a:pt x="149679" y="232097"/>
                  <a:pt x="156312" y="226293"/>
                  <a:pt x="164561" y="226293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33655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Научный руководитель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9500" y="4064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Научная обоснованность модели, экспертная оценка, публикации в рецензируемых журналах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70000" y="5143500"/>
            <a:ext cx="1143000" cy="330200"/>
          </a:xfrm>
          <a:prstGeom prst="roundRect">
            <a:avLst>
              <a:gd name="adj" fmla="val 8000"/>
            </a:avLst>
          </a:prstGeom>
          <a:solidFill>
            <a:srgbClr val="0F1430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0000" y="5143500"/>
            <a:ext cx="114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Медицинские ИС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0000" y="5143500"/>
            <a:ext cx="1143000" cy="330200"/>
          </a:xfrm>
          <a:prstGeom prst="roundRect">
            <a:avLst>
              <a:gd name="adj" fmla="val 8000"/>
            </a:avLst>
          </a:prstGeom>
          <a:solidFill>
            <a:srgbClr val="0F1430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0000" y="5143500"/>
            <a:ext cx="114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Клин. эндоскопия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032000"/>
            <a:ext cx="3429000" cy="4318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1500" y="2349500"/>
            <a:ext cx="762000" cy="762000"/>
          </a:xfrm>
          <a:prstGeom prst="ellipse">
            <a:avLst/>
          </a:prstGeom>
          <a:solidFill>
            <a:srgbClr val="0F1430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42000" y="254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5953"/>
                </a:moveTo>
                <a:cubicBezTo>
                  <a:pt x="134175" y="5953"/>
                  <a:pt x="88446" y="45966"/>
                  <a:pt x="88446" y="95250"/>
                </a:cubicBezTo>
                <a:cubicBezTo>
                  <a:pt x="88446" y="144534"/>
                  <a:pt x="134175" y="184547"/>
                  <a:pt x="190500" y="184547"/>
                </a:cubicBezTo>
                <a:cubicBezTo>
                  <a:pt x="246825" y="184547"/>
                  <a:pt x="292554" y="144534"/>
                  <a:pt x="292554" y="95250"/>
                </a:cubicBezTo>
                <a:cubicBezTo>
                  <a:pt x="292554" y="45966"/>
                  <a:pt x="246825" y="5953"/>
                  <a:pt x="190500" y="5953"/>
                </a:cubicBezTo>
                <a:close/>
                <a:moveTo>
                  <a:pt x="241527" y="238720"/>
                </a:moveTo>
                <a:cubicBezTo>
                  <a:pt x="236934" y="238348"/>
                  <a:pt x="232172" y="238125"/>
                  <a:pt x="227409" y="238125"/>
                </a:cubicBezTo>
                <a:lnTo>
                  <a:pt x="153506" y="238125"/>
                </a:lnTo>
                <a:cubicBezTo>
                  <a:pt x="148743" y="238125"/>
                  <a:pt x="144066" y="238348"/>
                  <a:pt x="139388" y="238720"/>
                </a:cubicBezTo>
                <a:lnTo>
                  <a:pt x="139388" y="288950"/>
                </a:lnTo>
                <a:cubicBezTo>
                  <a:pt x="153421" y="294605"/>
                  <a:pt x="163201" y="307032"/>
                  <a:pt x="163201" y="321394"/>
                </a:cubicBezTo>
                <a:cubicBezTo>
                  <a:pt x="163201" y="341114"/>
                  <a:pt x="144916" y="357113"/>
                  <a:pt x="122379" y="357113"/>
                </a:cubicBezTo>
                <a:cubicBezTo>
                  <a:pt x="99842" y="357113"/>
                  <a:pt x="81558" y="341114"/>
                  <a:pt x="81558" y="321394"/>
                </a:cubicBezTo>
                <a:cubicBezTo>
                  <a:pt x="81558" y="306958"/>
                  <a:pt x="91338" y="294531"/>
                  <a:pt x="105370" y="288950"/>
                </a:cubicBezTo>
                <a:lnTo>
                  <a:pt x="105370" y="245492"/>
                </a:lnTo>
                <a:cubicBezTo>
                  <a:pt x="51877" y="262682"/>
                  <a:pt x="13607" y="307777"/>
                  <a:pt x="13607" y="360611"/>
                </a:cubicBezTo>
                <a:cubicBezTo>
                  <a:pt x="13607" y="371847"/>
                  <a:pt x="24068" y="381000"/>
                  <a:pt x="36909" y="381000"/>
                </a:cubicBezTo>
                <a:lnTo>
                  <a:pt x="344006" y="381000"/>
                </a:lnTo>
                <a:cubicBezTo>
                  <a:pt x="356847" y="381000"/>
                  <a:pt x="367308" y="371847"/>
                  <a:pt x="367308" y="360611"/>
                </a:cubicBezTo>
                <a:cubicBezTo>
                  <a:pt x="367308" y="307777"/>
                  <a:pt x="329038" y="262756"/>
                  <a:pt x="275460" y="245566"/>
                </a:cubicBezTo>
                <a:lnTo>
                  <a:pt x="275460" y="273397"/>
                </a:lnTo>
                <a:cubicBezTo>
                  <a:pt x="295275" y="279499"/>
                  <a:pt x="309477" y="296094"/>
                  <a:pt x="309477" y="315516"/>
                </a:cubicBezTo>
                <a:lnTo>
                  <a:pt x="309477" y="339328"/>
                </a:lnTo>
                <a:cubicBezTo>
                  <a:pt x="309477" y="347514"/>
                  <a:pt x="301823" y="354211"/>
                  <a:pt x="292469" y="354211"/>
                </a:cubicBezTo>
                <a:cubicBezTo>
                  <a:pt x="283114" y="354211"/>
                  <a:pt x="275460" y="347514"/>
                  <a:pt x="275460" y="339328"/>
                </a:cubicBezTo>
                <a:lnTo>
                  <a:pt x="275460" y="315516"/>
                </a:lnTo>
                <a:cubicBezTo>
                  <a:pt x="275460" y="307330"/>
                  <a:pt x="267806" y="300633"/>
                  <a:pt x="258451" y="300633"/>
                </a:cubicBezTo>
                <a:cubicBezTo>
                  <a:pt x="249096" y="300633"/>
                  <a:pt x="241442" y="307330"/>
                  <a:pt x="241442" y="315516"/>
                </a:cubicBezTo>
                <a:lnTo>
                  <a:pt x="241442" y="339328"/>
                </a:lnTo>
                <a:cubicBezTo>
                  <a:pt x="241442" y="347514"/>
                  <a:pt x="233788" y="354211"/>
                  <a:pt x="224433" y="354211"/>
                </a:cubicBezTo>
                <a:cubicBezTo>
                  <a:pt x="215078" y="354211"/>
                  <a:pt x="207424" y="347514"/>
                  <a:pt x="207424" y="339328"/>
                </a:cubicBezTo>
                <a:lnTo>
                  <a:pt x="207424" y="315516"/>
                </a:lnTo>
                <a:cubicBezTo>
                  <a:pt x="207424" y="296094"/>
                  <a:pt x="221626" y="279574"/>
                  <a:pt x="241442" y="273397"/>
                </a:cubicBezTo>
                <a:lnTo>
                  <a:pt x="241442" y="238720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16" name="Text 14"/>
          <p:cNvSpPr/>
          <p:nvPr/>
        </p:nvSpPr>
        <p:spPr>
          <a:xfrm>
            <a:off x="4889500" y="33655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Врач-методист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89500" y="4064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Клиническая экспертиза, валидация сценариев, проведение клинических испытаний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89500" y="51435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0F1430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9500" y="51435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Клин. эндоскопия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13500" y="51435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0F1430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3500" y="51435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Мед. методология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82000" y="2032000"/>
            <a:ext cx="3429000" cy="4318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61500" y="2349500"/>
            <a:ext cx="762000" cy="762000"/>
          </a:xfrm>
          <a:prstGeom prst="ellipse">
            <a:avLst/>
          </a:prstGeom>
          <a:solidFill>
            <a:srgbClr val="0F1430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52000" y="254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38654" y="893"/>
                </a:moveTo>
                <a:cubicBezTo>
                  <a:pt x="227409" y="-2753"/>
                  <a:pt x="215702" y="4614"/>
                  <a:pt x="212460" y="17264"/>
                </a:cubicBezTo>
                <a:lnTo>
                  <a:pt x="127794" y="350639"/>
                </a:lnTo>
                <a:cubicBezTo>
                  <a:pt x="124553" y="363289"/>
                  <a:pt x="131101" y="376461"/>
                  <a:pt x="142346" y="380107"/>
                </a:cubicBezTo>
                <a:cubicBezTo>
                  <a:pt x="153591" y="383753"/>
                  <a:pt x="165298" y="376386"/>
                  <a:pt x="168540" y="363736"/>
                </a:cubicBezTo>
                <a:lnTo>
                  <a:pt x="253206" y="30361"/>
                </a:lnTo>
                <a:cubicBezTo>
                  <a:pt x="256447" y="17711"/>
                  <a:pt x="249899" y="4539"/>
                  <a:pt x="238654" y="893"/>
                </a:cubicBezTo>
                <a:close/>
                <a:moveTo>
                  <a:pt x="281384" y="102171"/>
                </a:moveTo>
                <a:cubicBezTo>
                  <a:pt x="273116" y="111472"/>
                  <a:pt x="273116" y="126578"/>
                  <a:pt x="281384" y="135880"/>
                </a:cubicBezTo>
                <a:lnTo>
                  <a:pt x="329935" y="190500"/>
                </a:lnTo>
                <a:lnTo>
                  <a:pt x="281384" y="245120"/>
                </a:lnTo>
                <a:cubicBezTo>
                  <a:pt x="273116" y="254422"/>
                  <a:pt x="273116" y="269528"/>
                  <a:pt x="281384" y="278829"/>
                </a:cubicBezTo>
                <a:cubicBezTo>
                  <a:pt x="289653" y="288131"/>
                  <a:pt x="303080" y="288131"/>
                  <a:pt x="311348" y="278829"/>
                </a:cubicBezTo>
                <a:lnTo>
                  <a:pt x="374848" y="207392"/>
                </a:lnTo>
                <a:cubicBezTo>
                  <a:pt x="383117" y="198090"/>
                  <a:pt x="383117" y="182984"/>
                  <a:pt x="374848" y="173682"/>
                </a:cubicBezTo>
                <a:lnTo>
                  <a:pt x="311348" y="102245"/>
                </a:lnTo>
                <a:cubicBezTo>
                  <a:pt x="303080" y="92943"/>
                  <a:pt x="289653" y="92943"/>
                  <a:pt x="281384" y="102245"/>
                </a:cubicBezTo>
                <a:close/>
                <a:moveTo>
                  <a:pt x="99682" y="102171"/>
                </a:moveTo>
                <a:cubicBezTo>
                  <a:pt x="91414" y="92869"/>
                  <a:pt x="77986" y="92869"/>
                  <a:pt x="69718" y="102171"/>
                </a:cubicBezTo>
                <a:lnTo>
                  <a:pt x="6218" y="173608"/>
                </a:lnTo>
                <a:cubicBezTo>
                  <a:pt x="-2051" y="182910"/>
                  <a:pt x="-2051" y="198016"/>
                  <a:pt x="6218" y="207318"/>
                </a:cubicBezTo>
                <a:lnTo>
                  <a:pt x="69718" y="278755"/>
                </a:lnTo>
                <a:cubicBezTo>
                  <a:pt x="77986" y="288057"/>
                  <a:pt x="91414" y="288057"/>
                  <a:pt x="99682" y="278755"/>
                </a:cubicBezTo>
                <a:cubicBezTo>
                  <a:pt x="107950" y="269453"/>
                  <a:pt x="107950" y="254347"/>
                  <a:pt x="99682" y="245046"/>
                </a:cubicBezTo>
                <a:lnTo>
                  <a:pt x="51131" y="190500"/>
                </a:lnTo>
                <a:lnTo>
                  <a:pt x="99616" y="135880"/>
                </a:lnTo>
                <a:cubicBezTo>
                  <a:pt x="107884" y="126578"/>
                  <a:pt x="107884" y="111472"/>
                  <a:pt x="99616" y="102171"/>
                </a:cubicBez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25" name="Text 23"/>
          <p:cNvSpPr/>
          <p:nvPr/>
        </p:nvSpPr>
        <p:spPr>
          <a:xfrm>
            <a:off x="8699500" y="3302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Технический руководитель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699500" y="4127500"/>
            <a:ext cx="279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ML-pipeline разработка, архитектура и код, инфраструктура и интеграция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890000" y="51435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0F1430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90000" y="5143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Машинное обучение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287000" y="51435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0F1430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87000" y="5143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Комп. зрение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2192000" y="2032000"/>
            <a:ext cx="3302000" cy="4318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208000" y="2349500"/>
            <a:ext cx="762000" cy="762000"/>
          </a:xfrm>
          <a:prstGeom prst="ellipse">
            <a:avLst/>
          </a:prstGeom>
          <a:solidFill>
            <a:srgbClr val="0F1430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398500" y="254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48828" y="35719"/>
                </a:moveTo>
                <a:lnTo>
                  <a:pt x="232172" y="35719"/>
                </a:lnTo>
                <a:cubicBezTo>
                  <a:pt x="235446" y="35719"/>
                  <a:pt x="238125" y="38398"/>
                  <a:pt x="238125" y="41672"/>
                </a:cubicBezTo>
                <a:lnTo>
                  <a:pt x="238125" y="71438"/>
                </a:lnTo>
                <a:lnTo>
                  <a:pt x="142875" y="71438"/>
                </a:lnTo>
                <a:lnTo>
                  <a:pt x="142875" y="41672"/>
                </a:lnTo>
                <a:cubicBezTo>
                  <a:pt x="142875" y="38398"/>
                  <a:pt x="145554" y="35719"/>
                  <a:pt x="148828" y="35719"/>
                </a:cubicBezTo>
                <a:close/>
                <a:moveTo>
                  <a:pt x="107156" y="41672"/>
                </a:moveTo>
                <a:lnTo>
                  <a:pt x="107156" y="71438"/>
                </a:lnTo>
                <a:lnTo>
                  <a:pt x="47625" y="71438"/>
                </a:lnTo>
                <a:cubicBezTo>
                  <a:pt x="21357" y="71438"/>
                  <a:pt x="0" y="92794"/>
                  <a:pt x="0" y="119063"/>
                </a:cubicBezTo>
                <a:lnTo>
                  <a:pt x="0" y="190500"/>
                </a:lnTo>
                <a:lnTo>
                  <a:pt x="381000" y="190500"/>
                </a:lnTo>
                <a:lnTo>
                  <a:pt x="381000" y="119063"/>
                </a:lnTo>
                <a:cubicBezTo>
                  <a:pt x="381000" y="92794"/>
                  <a:pt x="359643" y="71438"/>
                  <a:pt x="333375" y="71438"/>
                </a:cubicBezTo>
                <a:lnTo>
                  <a:pt x="273844" y="71438"/>
                </a:lnTo>
                <a:lnTo>
                  <a:pt x="273844" y="41672"/>
                </a:lnTo>
                <a:cubicBezTo>
                  <a:pt x="273844" y="18678"/>
                  <a:pt x="255166" y="0"/>
                  <a:pt x="232172" y="0"/>
                </a:cubicBezTo>
                <a:lnTo>
                  <a:pt x="148828" y="0"/>
                </a:lnTo>
                <a:cubicBezTo>
                  <a:pt x="125834" y="0"/>
                  <a:pt x="107156" y="18678"/>
                  <a:pt x="107156" y="41672"/>
                </a:cubicBezTo>
                <a:close/>
                <a:moveTo>
                  <a:pt x="381000" y="226219"/>
                </a:moveTo>
                <a:lnTo>
                  <a:pt x="238125" y="226219"/>
                </a:lnTo>
                <a:lnTo>
                  <a:pt x="238125" y="238125"/>
                </a:lnTo>
                <a:cubicBezTo>
                  <a:pt x="238125" y="251296"/>
                  <a:pt x="227484" y="261938"/>
                  <a:pt x="214313" y="261938"/>
                </a:cubicBezTo>
                <a:lnTo>
                  <a:pt x="166688" y="261938"/>
                </a:lnTo>
                <a:cubicBezTo>
                  <a:pt x="153516" y="261938"/>
                  <a:pt x="142875" y="251296"/>
                  <a:pt x="142875" y="238125"/>
                </a:cubicBezTo>
                <a:lnTo>
                  <a:pt x="142875" y="226219"/>
                </a:lnTo>
                <a:lnTo>
                  <a:pt x="0" y="226219"/>
                </a:ln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333375" y="357188"/>
                </a:lnTo>
                <a:cubicBezTo>
                  <a:pt x="359643" y="357188"/>
                  <a:pt x="381000" y="335831"/>
                  <a:pt x="381000" y="309563"/>
                </a:cubicBezTo>
                <a:lnTo>
                  <a:pt x="381000" y="226219"/>
                </a:lnTo>
                <a:close/>
              </a:path>
            </a:pathLst>
          </a:custGeom>
          <a:solidFill>
            <a:srgbClr val="00E5FF"/>
          </a:solidFill>
          <a:ln/>
        </p:spPr>
      </p:sp>
      <p:sp>
        <p:nvSpPr>
          <p:cNvPr id="34" name="Text 32"/>
          <p:cNvSpPr/>
          <p:nvPr/>
        </p:nvSpPr>
        <p:spPr>
          <a:xfrm>
            <a:off x="12446000" y="33655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Бизнес-развитие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446000" y="4064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Выход на рынок, взаимодействие с клиниками, регуляторика медизделий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2573000" y="51435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0F1430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573000" y="5143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Регуляторика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3970000" y="5143500"/>
            <a:ext cx="1270000" cy="330200"/>
          </a:xfrm>
          <a:prstGeom prst="roundRect">
            <a:avLst>
              <a:gd name="adj" fmla="val 8000"/>
            </a:avLst>
          </a:prstGeom>
          <a:solidFill>
            <a:srgbClr val="0F1430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970000" y="5143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B2B продажи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2000" y="6731000"/>
            <a:ext cx="14732000" cy="1397000"/>
          </a:xfrm>
          <a:prstGeom prst="roundRect">
            <a:avLst>
              <a:gd name="adj" fmla="val 3000"/>
            </a:avLst>
          </a:prstGeom>
          <a:solidFill>
            <a:srgbClr val="0F1430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6921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Ценности команды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43000" y="73025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Пациентоориентированность    </a:t>
            </a:r>
            <a:r>
              <a:rPr lang="en-US" sz="16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Научная строгость    </a:t>
            </a:r>
            <a:r>
              <a:rPr lang="en-US" sz="1600" dirty="0">
                <a:solidFill>
                  <a:srgbClr val="00E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Технологическое лидерство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8000" y="1270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4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СВЯЖИТЕСЬ С НАМИ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83000" y="1422400"/>
            <a:ext cx="508000" cy="0"/>
          </a:xfrm>
          <a:prstGeom prst="straightConnector1">
            <a:avLst/>
          </a:prstGeom>
          <a:noFill/>
          <a:ln w="12700">
            <a:solidFill>
              <a:srgbClr val="00E5FF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2065000" y="1422400"/>
            <a:ext cx="508000" cy="0"/>
          </a:xfrm>
          <a:prstGeom prst="straightConnector1">
            <a:avLst/>
          </a:prstGeom>
          <a:noFill/>
          <a:ln w="12700">
            <a:solidFill>
              <a:srgbClr val="00E5FF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2413000" y="1841500"/>
            <a:ext cx="1143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ГОТОВЫ ОБСУДИТЬ</a:t>
            </a:r>
            <a:endParaRPr lang="en-US" sz="4800" dirty="0"/>
          </a:p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ПИЛОТНЫЙ ПРОЕКТ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048000" y="3810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Демонстрация работы системы · Техническая консультация · Коммерческое предложение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78000" y="4445000"/>
            <a:ext cx="2794000" cy="1270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78000" y="4572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94%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778000" y="52070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чувствительность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80000" y="4445000"/>
            <a:ext cx="2794000" cy="1270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0000" y="4572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&lt;100 мс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80000" y="52070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задержка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82000" y="4445000"/>
            <a:ext cx="2794000" cy="1270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2000" y="4572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550 000 ₽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382000" y="52070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стартовая цена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684000" y="4445000"/>
            <a:ext cx="2794000" cy="1270000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2700">
            <a:solidFill>
              <a:srgbClr val="2A2F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84000" y="4572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1684000" y="52070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локальный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26000" y="6477000"/>
            <a:ext cx="3048000" cy="711200"/>
          </a:xfrm>
          <a:prstGeom prst="roundRect">
            <a:avLst>
              <a:gd name="adj" fmla="val 8000"/>
            </a:avLst>
          </a:prstGeom>
          <a:solidFill>
            <a:srgbClr val="00E5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26000" y="6477000"/>
            <a:ext cx="3048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kern="0" spc="200" dirty="0">
                <a:solidFill>
                  <a:srgbClr val="0A0E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ЗАПРОСИТЬ ДЕМО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6477000"/>
            <a:ext cx="3048000" cy="711200"/>
          </a:xfrm>
          <a:prstGeom prst="roundRect">
            <a:avLst>
              <a:gd name="adj" fmla="val 8000"/>
            </a:avLst>
          </a:prstGeom>
          <a:solidFill>
            <a:srgbClr val="1A1F3D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82000" y="6477000"/>
            <a:ext cx="3048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kern="0" spc="200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ПОСМОТРЕТЬ ДЕМО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413000" y="7874000"/>
            <a:ext cx="1143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200" dirty="0">
                <a:solidFill>
                  <a:srgbClr val="8888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ПОЛИСКОП | AI-АССИСТЕНТ ДЕТЕКЦИИ ПОЛИПОВ | ИМПОРТОЗАМЕЩАЮЩЕЕ РЕШЕНИЕ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12700">
            <a:solidFill>
              <a:srgbClr val="2A2F4D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62000" y="8763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© 2026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813</Words>
  <Application>Microsoft Office PowerPoint</Application>
  <PresentationFormat>Произвольный</PresentationFormat>
  <Paragraphs>239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Quattrocento Sans</vt:lpstr>
      <vt:lpstr>Calibri</vt:lpstr>
      <vt:lpstr>Liter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ПОЛИСКОП — AI-ассистент детекции полипов</dc:title>
  <dc:subject>ПОЛИСКОП — AI-ассистент детекции полипов</dc:subject>
  <dc:creator>Kimi</dc:creator>
  <cp:lastModifiedBy>Московский Евгений Сергеевич</cp:lastModifiedBy>
  <cp:revision>2</cp:revision>
  <dcterms:created xsi:type="dcterms:W3CDTF">2026-06-24T11:41:30Z</dcterms:created>
  <dcterms:modified xsi:type="dcterms:W3CDTF">2026-06-24T12:40:44Z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{"Label":"ПОЛИСКОП — AI-ассистент детекции полипов","ContentProducer":"001191110108MACG2KBH8F10000","ProduceID":"19ef965b-8682-809a-8000-00007866d693","ReservedCode1":"","ContentPropagator":"001191110108MACG2KBH8F20000","PropagateID":"19ef9627-07a2-8585-8</vt:lpwstr>
  </property>
</Properties>
</file>